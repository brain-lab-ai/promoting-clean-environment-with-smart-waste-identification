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3"/>
  </p:notesMasterIdLst>
  <p:sldIdLst>
    <p:sldId id="256" r:id="rId2"/>
    <p:sldId id="257" r:id="rId3"/>
    <p:sldId id="258" r:id="rId4"/>
    <p:sldId id="259" r:id="rId5"/>
    <p:sldId id="267" r:id="rId6"/>
    <p:sldId id="266" r:id="rId7"/>
    <p:sldId id="260" r:id="rId8"/>
    <p:sldId id="261" r:id="rId9"/>
    <p:sldId id="268" r:id="rId10"/>
    <p:sldId id="270" r:id="rId11"/>
    <p:sldId id="271" r:id="rId12"/>
    <p:sldId id="272" r:id="rId13"/>
    <p:sldId id="262" r:id="rId14"/>
    <p:sldId id="269" r:id="rId15"/>
    <p:sldId id="263" r:id="rId16"/>
    <p:sldId id="264" r:id="rId17"/>
    <p:sldId id="273" r:id="rId18"/>
    <p:sldId id="274" r:id="rId19"/>
    <p:sldId id="275" r:id="rId20"/>
    <p:sldId id="26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45"/>
    <p:restoredTop sz="87676"/>
  </p:normalViewPr>
  <p:slideViewPr>
    <p:cSldViewPr snapToGrid="0" snapToObjects="1">
      <p:cViewPr varScale="1">
        <p:scale>
          <a:sx n="84" d="100"/>
          <a:sy n="84" d="100"/>
        </p:scale>
        <p:origin x="94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990F17-E648-2547-8F8E-89D59AAF05CD}" type="datetimeFigureOut">
              <a:rPr lang="en-SA" smtClean="0"/>
              <a:t>22/11/2025 R</a:t>
            </a:fld>
            <a:endParaRPr lang="en-S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0CFC69-D0A9-E24F-BD9C-EF112A6E9A82}" type="slidenum">
              <a:rPr lang="en-SA" smtClean="0"/>
              <a:t>‹#›</a:t>
            </a:fld>
            <a:endParaRPr lang="en-SA"/>
          </a:p>
        </p:txBody>
      </p:sp>
    </p:spTree>
    <p:extLst>
      <p:ext uri="{BB962C8B-B14F-4D97-AF65-F5344CB8AC3E}">
        <p14:creationId xmlns:p14="http://schemas.microsoft.com/office/powerpoint/2010/main" val="735594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A" dirty="0"/>
              <a:t>Accumlation of trash in the public areas is a concern. It affects the environment including humans, marines, and wild life. To keep the environement clean, there is a need for monitoring systems that are automated and accurate. Accurate to the point of detecting even small objects similar to the trash in this picture</a:t>
            </a:r>
          </a:p>
        </p:txBody>
      </p:sp>
      <p:sp>
        <p:nvSpPr>
          <p:cNvPr id="4" name="Slide Number Placeholder 3"/>
          <p:cNvSpPr>
            <a:spLocks noGrp="1"/>
          </p:cNvSpPr>
          <p:nvPr>
            <p:ph type="sldNum" sz="quarter" idx="5"/>
          </p:nvPr>
        </p:nvSpPr>
        <p:spPr/>
        <p:txBody>
          <a:bodyPr/>
          <a:lstStyle/>
          <a:p>
            <a:fld id="{890CFC69-D0A9-E24F-BD9C-EF112A6E9A82}" type="slidenum">
              <a:rPr lang="en-SA" smtClean="0"/>
              <a:t>3</a:t>
            </a:fld>
            <a:endParaRPr lang="en-SA"/>
          </a:p>
        </p:txBody>
      </p:sp>
    </p:spTree>
    <p:extLst>
      <p:ext uri="{BB962C8B-B14F-4D97-AF65-F5344CB8AC3E}">
        <p14:creationId xmlns:p14="http://schemas.microsoft.com/office/powerpoint/2010/main" val="1362896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A" dirty="0"/>
              <a:t>From there, the authors of the TACO: Trash Annotation in Context Litter Detection had the idea that deep learning can help. Deep learning can be trained to detect trash in the wild, with different backgrounds, various context, objects that are deformed, fragmented, aged, or occluded. With the presence of solid model, monitoring trash will be enhanced</a:t>
            </a:r>
          </a:p>
        </p:txBody>
      </p:sp>
      <p:sp>
        <p:nvSpPr>
          <p:cNvPr id="4" name="Slide Number Placeholder 3"/>
          <p:cNvSpPr>
            <a:spLocks noGrp="1"/>
          </p:cNvSpPr>
          <p:nvPr>
            <p:ph type="sldNum" sz="quarter" idx="5"/>
          </p:nvPr>
        </p:nvSpPr>
        <p:spPr/>
        <p:txBody>
          <a:bodyPr/>
          <a:lstStyle/>
          <a:p>
            <a:fld id="{890CFC69-D0A9-E24F-BD9C-EF112A6E9A82}" type="slidenum">
              <a:rPr lang="en-SA" smtClean="0"/>
              <a:t>4</a:t>
            </a:fld>
            <a:endParaRPr lang="en-SA"/>
          </a:p>
        </p:txBody>
      </p:sp>
    </p:spTree>
    <p:extLst>
      <p:ext uri="{BB962C8B-B14F-4D97-AF65-F5344CB8AC3E}">
        <p14:creationId xmlns:p14="http://schemas.microsoft.com/office/powerpoint/2010/main" val="370747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A8304-A6F0-8407-B02A-72063F03B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66676-AC17-D57E-040B-69F728C0F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DCD3D-D9C8-B14D-8D4E-C30FFB225706}"/>
              </a:ext>
            </a:extLst>
          </p:cNvPr>
          <p:cNvSpPr>
            <a:spLocks noGrp="1"/>
          </p:cNvSpPr>
          <p:nvPr>
            <p:ph type="body" idx="1"/>
          </p:nvPr>
        </p:nvSpPr>
        <p:spPr/>
        <p:txBody>
          <a:bodyPr/>
          <a:lstStyle/>
          <a:p>
            <a:r>
              <a:rPr lang="en-SA" dirty="0"/>
              <a:t>Accumlation of trash in the public areas is a concern. It affects the environment including humans, marines, and wild life. To keep the environement clean, there is a need for monitoring systems that are automated and accurate. Accurate to the point of detecting even small objects similar to the trash in this picture</a:t>
            </a:r>
          </a:p>
        </p:txBody>
      </p:sp>
      <p:sp>
        <p:nvSpPr>
          <p:cNvPr id="4" name="Slide Number Placeholder 3">
            <a:extLst>
              <a:ext uri="{FF2B5EF4-FFF2-40B4-BE49-F238E27FC236}">
                <a16:creationId xmlns:a16="http://schemas.microsoft.com/office/drawing/2014/main" id="{5B972981-C057-BF0F-6A18-195C272FA75D}"/>
              </a:ext>
            </a:extLst>
          </p:cNvPr>
          <p:cNvSpPr>
            <a:spLocks noGrp="1"/>
          </p:cNvSpPr>
          <p:nvPr>
            <p:ph type="sldNum" sz="quarter" idx="5"/>
          </p:nvPr>
        </p:nvSpPr>
        <p:spPr/>
        <p:txBody>
          <a:bodyPr/>
          <a:lstStyle/>
          <a:p>
            <a:fld id="{890CFC69-D0A9-E24F-BD9C-EF112A6E9A82}" type="slidenum">
              <a:rPr lang="en-SA" smtClean="0"/>
              <a:t>6</a:t>
            </a:fld>
            <a:endParaRPr lang="en-SA"/>
          </a:p>
        </p:txBody>
      </p:sp>
    </p:spTree>
    <p:extLst>
      <p:ext uri="{BB962C8B-B14F-4D97-AF65-F5344CB8AC3E}">
        <p14:creationId xmlns:p14="http://schemas.microsoft.com/office/powerpoint/2010/main" val="1607052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A" dirty="0"/>
          </a:p>
        </p:txBody>
      </p:sp>
      <p:sp>
        <p:nvSpPr>
          <p:cNvPr id="4" name="Slide Number Placeholder 3"/>
          <p:cNvSpPr>
            <a:spLocks noGrp="1"/>
          </p:cNvSpPr>
          <p:nvPr>
            <p:ph type="sldNum" sz="quarter" idx="5"/>
          </p:nvPr>
        </p:nvSpPr>
        <p:spPr/>
        <p:txBody>
          <a:bodyPr/>
          <a:lstStyle/>
          <a:p>
            <a:fld id="{890CFC69-D0A9-E24F-BD9C-EF112A6E9A82}" type="slidenum">
              <a:rPr lang="en-SA" smtClean="0"/>
              <a:t>7</a:t>
            </a:fld>
            <a:endParaRPr lang="en-SA"/>
          </a:p>
        </p:txBody>
      </p:sp>
    </p:spTree>
    <p:extLst>
      <p:ext uri="{BB962C8B-B14F-4D97-AF65-F5344CB8AC3E}">
        <p14:creationId xmlns:p14="http://schemas.microsoft.com/office/powerpoint/2010/main" val="25313545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A" dirty="0"/>
          </a:p>
        </p:txBody>
      </p:sp>
      <p:sp>
        <p:nvSpPr>
          <p:cNvPr id="4" name="Slide Number Placeholder 3"/>
          <p:cNvSpPr>
            <a:spLocks noGrp="1"/>
          </p:cNvSpPr>
          <p:nvPr>
            <p:ph type="sldNum" sz="quarter" idx="5"/>
          </p:nvPr>
        </p:nvSpPr>
        <p:spPr/>
        <p:txBody>
          <a:bodyPr/>
          <a:lstStyle/>
          <a:p>
            <a:fld id="{890CFC69-D0A9-E24F-BD9C-EF112A6E9A82}" type="slidenum">
              <a:rPr lang="en-SA" smtClean="0"/>
              <a:t>8</a:t>
            </a:fld>
            <a:endParaRPr lang="en-SA"/>
          </a:p>
        </p:txBody>
      </p:sp>
    </p:spTree>
    <p:extLst>
      <p:ext uri="{BB962C8B-B14F-4D97-AF65-F5344CB8AC3E}">
        <p14:creationId xmlns:p14="http://schemas.microsoft.com/office/powerpoint/2010/main" val="2335536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B0CCDDC-2F16-724E-B9C7-BF4EF5A9CF06}" type="datetimeFigureOut">
              <a:rPr lang="en-SA" smtClean="0"/>
              <a:t>22/11/2025 R</a:t>
            </a:fld>
            <a:endParaRPr lang="en-SA"/>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SA"/>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DDE17B09-E563-1749-9373-9036285B26A8}" type="slidenum">
              <a:rPr lang="en-SA" smtClean="0"/>
              <a:t>‹#›</a:t>
            </a:fld>
            <a:endParaRPr lang="en-SA"/>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108526350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0CCDDC-2F16-724E-B9C7-BF4EF5A9CF06}" type="datetimeFigureOut">
              <a:rPr lang="en-SA" smtClean="0"/>
              <a:t>22/11/2025 R</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DDE17B09-E563-1749-9373-9036285B26A8}" type="slidenum">
              <a:rPr lang="en-SA" smtClean="0"/>
              <a:t>‹#›</a:t>
            </a:fld>
            <a:endParaRPr lang="en-SA"/>
          </a:p>
        </p:txBody>
      </p:sp>
    </p:spTree>
    <p:extLst>
      <p:ext uri="{BB962C8B-B14F-4D97-AF65-F5344CB8AC3E}">
        <p14:creationId xmlns:p14="http://schemas.microsoft.com/office/powerpoint/2010/main" val="865704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4B0CCDDC-2F16-724E-B9C7-BF4EF5A9CF06}" type="datetimeFigureOut">
              <a:rPr lang="en-SA" smtClean="0"/>
              <a:t>22/11/2025 R</a:t>
            </a:fld>
            <a:endParaRPr lang="en-SA"/>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SA"/>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DDE17B09-E563-1749-9373-9036285B26A8}" type="slidenum">
              <a:rPr lang="en-SA" smtClean="0"/>
              <a:t>‹#›</a:t>
            </a:fld>
            <a:endParaRPr lang="en-SA"/>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84683599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0CCDDC-2F16-724E-B9C7-BF4EF5A9CF06}" type="datetimeFigureOut">
              <a:rPr lang="en-SA" smtClean="0"/>
              <a:t>22/11/2025 R</a:t>
            </a:fld>
            <a:endParaRPr lang="en-SA"/>
          </a:p>
        </p:txBody>
      </p:sp>
      <p:sp>
        <p:nvSpPr>
          <p:cNvPr id="6" name="Footer Placeholder 5"/>
          <p:cNvSpPr>
            <a:spLocks noGrp="1"/>
          </p:cNvSpPr>
          <p:nvPr>
            <p:ph type="ftr" sz="quarter" idx="11"/>
          </p:nvPr>
        </p:nvSpPr>
        <p:spPr/>
        <p:txBody>
          <a:bodyPr/>
          <a:lstStyle/>
          <a:p>
            <a:endParaRPr lang="en-SA"/>
          </a:p>
        </p:txBody>
      </p:sp>
      <p:sp>
        <p:nvSpPr>
          <p:cNvPr id="7" name="Slide Number Placeholder 6"/>
          <p:cNvSpPr>
            <a:spLocks noGrp="1"/>
          </p:cNvSpPr>
          <p:nvPr>
            <p:ph type="sldNum" sz="quarter" idx="12"/>
          </p:nvPr>
        </p:nvSpPr>
        <p:spPr/>
        <p:txBody>
          <a:bodyPr/>
          <a:lstStyle/>
          <a:p>
            <a:fld id="{DDE17B09-E563-1749-9373-9036285B26A8}" type="slidenum">
              <a:rPr lang="en-SA" smtClean="0"/>
              <a:t>‹#›</a:t>
            </a:fld>
            <a:endParaRPr lang="en-SA"/>
          </a:p>
        </p:txBody>
      </p:sp>
    </p:spTree>
    <p:extLst>
      <p:ext uri="{BB962C8B-B14F-4D97-AF65-F5344CB8AC3E}">
        <p14:creationId xmlns:p14="http://schemas.microsoft.com/office/powerpoint/2010/main" val="3949046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B0CCDDC-2F16-724E-B9C7-BF4EF5A9CF06}" type="datetimeFigureOut">
              <a:rPr lang="en-SA" smtClean="0"/>
              <a:t>22/11/2025 R</a:t>
            </a:fld>
            <a:endParaRPr lang="en-SA"/>
          </a:p>
        </p:txBody>
      </p:sp>
      <p:sp>
        <p:nvSpPr>
          <p:cNvPr id="8" name="Footer Placeholder 7"/>
          <p:cNvSpPr>
            <a:spLocks noGrp="1"/>
          </p:cNvSpPr>
          <p:nvPr>
            <p:ph type="ftr" sz="quarter" idx="11"/>
          </p:nvPr>
        </p:nvSpPr>
        <p:spPr/>
        <p:txBody>
          <a:bodyPr/>
          <a:lstStyle/>
          <a:p>
            <a:endParaRPr lang="en-SA"/>
          </a:p>
        </p:txBody>
      </p:sp>
      <p:sp>
        <p:nvSpPr>
          <p:cNvPr id="9" name="Slide Number Placeholder 8"/>
          <p:cNvSpPr>
            <a:spLocks noGrp="1"/>
          </p:cNvSpPr>
          <p:nvPr>
            <p:ph type="sldNum" sz="quarter" idx="12"/>
          </p:nvPr>
        </p:nvSpPr>
        <p:spPr/>
        <p:txBody>
          <a:bodyPr/>
          <a:lstStyle/>
          <a:p>
            <a:fld id="{DDE17B09-E563-1749-9373-9036285B26A8}" type="slidenum">
              <a:rPr lang="en-SA" smtClean="0"/>
              <a:t>‹#›</a:t>
            </a:fld>
            <a:endParaRPr lang="en-SA"/>
          </a:p>
        </p:txBody>
      </p:sp>
    </p:spTree>
    <p:extLst>
      <p:ext uri="{BB962C8B-B14F-4D97-AF65-F5344CB8AC3E}">
        <p14:creationId xmlns:p14="http://schemas.microsoft.com/office/powerpoint/2010/main" val="2171459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B0CCDDC-2F16-724E-B9C7-BF4EF5A9CF06}" type="datetimeFigureOut">
              <a:rPr lang="en-SA" smtClean="0"/>
              <a:t>22/11/2025 R</a:t>
            </a:fld>
            <a:endParaRPr lang="en-SA"/>
          </a:p>
        </p:txBody>
      </p:sp>
      <p:sp>
        <p:nvSpPr>
          <p:cNvPr id="4" name="Footer Placeholder 3"/>
          <p:cNvSpPr>
            <a:spLocks noGrp="1"/>
          </p:cNvSpPr>
          <p:nvPr>
            <p:ph type="ftr" sz="quarter" idx="11"/>
          </p:nvPr>
        </p:nvSpPr>
        <p:spPr/>
        <p:txBody>
          <a:bodyPr/>
          <a:lstStyle/>
          <a:p>
            <a:endParaRPr lang="en-SA"/>
          </a:p>
        </p:txBody>
      </p:sp>
      <p:sp>
        <p:nvSpPr>
          <p:cNvPr id="5" name="Slide Number Placeholder 4"/>
          <p:cNvSpPr>
            <a:spLocks noGrp="1"/>
          </p:cNvSpPr>
          <p:nvPr>
            <p:ph type="sldNum" sz="quarter" idx="12"/>
          </p:nvPr>
        </p:nvSpPr>
        <p:spPr/>
        <p:txBody>
          <a:bodyPr/>
          <a:lstStyle/>
          <a:p>
            <a:fld id="{DDE17B09-E563-1749-9373-9036285B26A8}" type="slidenum">
              <a:rPr lang="en-SA" smtClean="0"/>
              <a:t>‹#›</a:t>
            </a:fld>
            <a:endParaRPr lang="en-SA"/>
          </a:p>
        </p:txBody>
      </p:sp>
    </p:spTree>
    <p:extLst>
      <p:ext uri="{BB962C8B-B14F-4D97-AF65-F5344CB8AC3E}">
        <p14:creationId xmlns:p14="http://schemas.microsoft.com/office/powerpoint/2010/main" val="36110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0CCDDC-2F16-724E-B9C7-BF4EF5A9CF06}" type="datetimeFigureOut">
              <a:rPr lang="en-SA" smtClean="0"/>
              <a:t>22/11/2025 R</a:t>
            </a:fld>
            <a:endParaRPr lang="en-SA"/>
          </a:p>
        </p:txBody>
      </p:sp>
      <p:sp>
        <p:nvSpPr>
          <p:cNvPr id="3" name="Footer Placeholder 2"/>
          <p:cNvSpPr>
            <a:spLocks noGrp="1"/>
          </p:cNvSpPr>
          <p:nvPr>
            <p:ph type="ftr" sz="quarter" idx="11"/>
          </p:nvPr>
        </p:nvSpPr>
        <p:spPr/>
        <p:txBody>
          <a:bodyPr/>
          <a:lstStyle/>
          <a:p>
            <a:endParaRPr lang="en-SA"/>
          </a:p>
        </p:txBody>
      </p:sp>
      <p:sp>
        <p:nvSpPr>
          <p:cNvPr id="4" name="Slide Number Placeholder 3"/>
          <p:cNvSpPr>
            <a:spLocks noGrp="1"/>
          </p:cNvSpPr>
          <p:nvPr>
            <p:ph type="sldNum" sz="quarter" idx="12"/>
          </p:nvPr>
        </p:nvSpPr>
        <p:spPr/>
        <p:txBody>
          <a:bodyPr/>
          <a:lstStyle/>
          <a:p>
            <a:fld id="{DDE17B09-E563-1749-9373-9036285B26A8}" type="slidenum">
              <a:rPr lang="en-SA" smtClean="0"/>
              <a:t>‹#›</a:t>
            </a:fld>
            <a:endParaRPr lang="en-SA"/>
          </a:p>
        </p:txBody>
      </p:sp>
    </p:spTree>
    <p:extLst>
      <p:ext uri="{BB962C8B-B14F-4D97-AF65-F5344CB8AC3E}">
        <p14:creationId xmlns:p14="http://schemas.microsoft.com/office/powerpoint/2010/main" val="1192365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B0CCDDC-2F16-724E-B9C7-BF4EF5A9CF06}" type="datetimeFigureOut">
              <a:rPr lang="en-SA" smtClean="0"/>
              <a:t>22/11/2025 R</a:t>
            </a:fld>
            <a:endParaRPr lang="en-SA"/>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SA"/>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DE17B09-E563-1749-9373-9036285B26A8}" type="slidenum">
              <a:rPr lang="en-SA" smtClean="0"/>
              <a:t>‹#›</a:t>
            </a:fld>
            <a:endParaRPr lang="en-SA"/>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93817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B0CCDDC-2F16-724E-B9C7-BF4EF5A9CF06}" type="datetimeFigureOut">
              <a:rPr lang="en-SA" smtClean="0"/>
              <a:t>22/11/2025 R</a:t>
            </a:fld>
            <a:endParaRPr lang="en-SA"/>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SA"/>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DDE17B09-E563-1749-9373-9036285B26A8}" type="slidenum">
              <a:rPr lang="en-SA" smtClean="0"/>
              <a:t>‹#›</a:t>
            </a:fld>
            <a:endParaRPr lang="en-SA"/>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76123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0CCDDC-2F16-724E-B9C7-BF4EF5A9CF06}" type="datetimeFigureOut">
              <a:rPr lang="en-SA" smtClean="0"/>
              <a:t>22/11/2025 R</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DDE17B09-E563-1749-9373-9036285B26A8}" type="slidenum">
              <a:rPr lang="en-SA" smtClean="0"/>
              <a:t>‹#›</a:t>
            </a:fld>
            <a:endParaRPr lang="en-SA"/>
          </a:p>
        </p:txBody>
      </p:sp>
    </p:spTree>
    <p:extLst>
      <p:ext uri="{BB962C8B-B14F-4D97-AF65-F5344CB8AC3E}">
        <p14:creationId xmlns:p14="http://schemas.microsoft.com/office/powerpoint/2010/main" val="2445576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0CCDDC-2F16-724E-B9C7-BF4EF5A9CF06}" type="datetimeFigureOut">
              <a:rPr lang="en-SA" smtClean="0"/>
              <a:t>22/11/2025 R</a:t>
            </a:fld>
            <a:endParaRPr lang="en-SA"/>
          </a:p>
        </p:txBody>
      </p:sp>
      <p:sp>
        <p:nvSpPr>
          <p:cNvPr id="5" name="Footer Placeholder 4"/>
          <p:cNvSpPr>
            <a:spLocks noGrp="1"/>
          </p:cNvSpPr>
          <p:nvPr>
            <p:ph type="ftr" sz="quarter" idx="11"/>
          </p:nvPr>
        </p:nvSpPr>
        <p:spPr/>
        <p:txBody>
          <a:bodyPr/>
          <a:lstStyle/>
          <a:p>
            <a:endParaRPr lang="en-SA"/>
          </a:p>
        </p:txBody>
      </p:sp>
      <p:sp>
        <p:nvSpPr>
          <p:cNvPr id="6" name="Slide Number Placeholder 5"/>
          <p:cNvSpPr>
            <a:spLocks noGrp="1"/>
          </p:cNvSpPr>
          <p:nvPr>
            <p:ph type="sldNum" sz="quarter" idx="12"/>
          </p:nvPr>
        </p:nvSpPr>
        <p:spPr/>
        <p:txBody>
          <a:bodyPr/>
          <a:lstStyle/>
          <a:p>
            <a:fld id="{DDE17B09-E563-1749-9373-9036285B26A8}" type="slidenum">
              <a:rPr lang="en-SA" smtClean="0"/>
              <a:t>‹#›</a:t>
            </a:fld>
            <a:endParaRPr lang="en-SA"/>
          </a:p>
        </p:txBody>
      </p:sp>
    </p:spTree>
    <p:extLst>
      <p:ext uri="{BB962C8B-B14F-4D97-AF65-F5344CB8AC3E}">
        <p14:creationId xmlns:p14="http://schemas.microsoft.com/office/powerpoint/2010/main" val="3923292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4B0CCDDC-2F16-724E-B9C7-BF4EF5A9CF06}" type="datetimeFigureOut">
              <a:rPr lang="en-SA" smtClean="0"/>
              <a:t>22/11/2025 R</a:t>
            </a:fld>
            <a:endParaRPr lang="en-SA"/>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SA"/>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DDE17B09-E563-1749-9373-9036285B26A8}" type="slidenum">
              <a:rPr lang="en-SA" smtClean="0"/>
              <a:t>‹#›</a:t>
            </a:fld>
            <a:endParaRPr lang="en-SA"/>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1231562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8FAA3-CD88-5C1C-BDA0-CB7CEB0053AF}"/>
              </a:ext>
            </a:extLst>
          </p:cNvPr>
          <p:cNvSpPr>
            <a:spLocks noGrp="1"/>
          </p:cNvSpPr>
          <p:nvPr>
            <p:ph type="ctrTitle"/>
          </p:nvPr>
        </p:nvSpPr>
        <p:spPr>
          <a:xfrm>
            <a:off x="1915385" y="1593349"/>
            <a:ext cx="8361229" cy="1308372"/>
          </a:xfrm>
        </p:spPr>
        <p:txBody>
          <a:bodyPr>
            <a:normAutofit/>
          </a:bodyPr>
          <a:lstStyle/>
          <a:p>
            <a:r>
              <a:rPr lang="en-US" sz="3600" kern="1400" spc="25" dirty="0">
                <a:solidFill>
                  <a:srgbClr val="17365D"/>
                </a:solidFill>
                <a:effectLst/>
                <a:latin typeface="Gelion Light"/>
                <a:ea typeface="MS Gothic" panose="020B0609070205080204" pitchFamily="49" charset="-128"/>
                <a:cs typeface="Calibri" panose="020F0502020204030204" pitchFamily="34" charset="0"/>
              </a:rPr>
              <a:t>Promoting Clean Environment with Smart Waste Identification</a:t>
            </a:r>
            <a:endParaRPr lang="en-SA" sz="8800" dirty="0"/>
          </a:p>
        </p:txBody>
      </p:sp>
      <p:sp>
        <p:nvSpPr>
          <p:cNvPr id="3" name="Subtitle 2">
            <a:extLst>
              <a:ext uri="{FF2B5EF4-FFF2-40B4-BE49-F238E27FC236}">
                <a16:creationId xmlns:a16="http://schemas.microsoft.com/office/drawing/2014/main" id="{1768B0C3-850D-594B-8037-D5FD2F18B097}"/>
              </a:ext>
            </a:extLst>
          </p:cNvPr>
          <p:cNvSpPr>
            <a:spLocks noGrp="1"/>
          </p:cNvSpPr>
          <p:nvPr>
            <p:ph type="subTitle" idx="1"/>
          </p:nvPr>
        </p:nvSpPr>
        <p:spPr>
          <a:xfrm>
            <a:off x="2679906" y="3956279"/>
            <a:ext cx="6831673" cy="1308372"/>
          </a:xfrm>
        </p:spPr>
        <p:txBody>
          <a:bodyPr>
            <a:normAutofit fontScale="85000" lnSpcReduction="20000"/>
          </a:bodyPr>
          <a:lstStyle/>
          <a:p>
            <a:r>
              <a:rPr lang="en-SA" dirty="0"/>
              <a:t>ICS 504 Term Project:</a:t>
            </a:r>
          </a:p>
          <a:p>
            <a:r>
              <a:rPr lang="en-SA" dirty="0"/>
              <a:t>Ammar Alsafwani</a:t>
            </a:r>
          </a:p>
          <a:p>
            <a:r>
              <a:rPr lang="en-SA" dirty="0"/>
              <a:t>Abdullah Alshammasi</a:t>
            </a:r>
          </a:p>
          <a:p>
            <a:r>
              <a:rPr lang="en-SA" dirty="0"/>
              <a:t>Jafar Abu Qurayn</a:t>
            </a:r>
          </a:p>
          <a:p>
            <a:endParaRPr lang="en-SA" dirty="0"/>
          </a:p>
        </p:txBody>
      </p:sp>
    </p:spTree>
    <p:extLst>
      <p:ext uri="{BB962C8B-B14F-4D97-AF65-F5344CB8AC3E}">
        <p14:creationId xmlns:p14="http://schemas.microsoft.com/office/powerpoint/2010/main" val="1852801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28A91-1832-E793-9674-408CDE3BE146}"/>
              </a:ext>
            </a:extLst>
          </p:cNvPr>
          <p:cNvSpPr>
            <a:spLocks noGrp="1"/>
          </p:cNvSpPr>
          <p:nvPr>
            <p:ph type="title"/>
          </p:nvPr>
        </p:nvSpPr>
        <p:spPr/>
        <p:txBody>
          <a:bodyPr/>
          <a:lstStyle/>
          <a:p>
            <a:r>
              <a:rPr lang="en-SA" dirty="0"/>
              <a:t>Outline</a:t>
            </a:r>
          </a:p>
        </p:txBody>
      </p:sp>
      <p:sp>
        <p:nvSpPr>
          <p:cNvPr id="3" name="Content Placeholder 2">
            <a:extLst>
              <a:ext uri="{FF2B5EF4-FFF2-40B4-BE49-F238E27FC236}">
                <a16:creationId xmlns:a16="http://schemas.microsoft.com/office/drawing/2014/main" id="{6A578402-B86B-6BD8-572E-6E433BE313C8}"/>
              </a:ext>
            </a:extLst>
          </p:cNvPr>
          <p:cNvSpPr>
            <a:spLocks noGrp="1"/>
          </p:cNvSpPr>
          <p:nvPr>
            <p:ph idx="1"/>
          </p:nvPr>
        </p:nvSpPr>
        <p:spPr/>
        <p:txBody>
          <a:bodyPr>
            <a:normAutofit fontScale="92500" lnSpcReduction="20000"/>
          </a:bodyPr>
          <a:lstStyle/>
          <a:p>
            <a:r>
              <a:rPr lang="en-SA" dirty="0"/>
              <a:t>Introduction</a:t>
            </a:r>
            <a:endParaRPr lang="en-US" dirty="0"/>
          </a:p>
          <a:p>
            <a:r>
              <a:rPr lang="en-US" dirty="0"/>
              <a:t>Dataset</a:t>
            </a:r>
            <a:endParaRPr lang="en-SA" dirty="0"/>
          </a:p>
          <a:p>
            <a:r>
              <a:rPr lang="en-SA" dirty="0"/>
              <a:t>TACO: Trash Annotation in Context for Litter Detection Paper</a:t>
            </a:r>
          </a:p>
          <a:p>
            <a:pPr lvl="1"/>
            <a:r>
              <a:rPr lang="en-SA" dirty="0"/>
              <a:t>Objective</a:t>
            </a:r>
          </a:p>
          <a:p>
            <a:pPr lvl="1"/>
            <a:r>
              <a:rPr lang="en-SA" dirty="0"/>
              <a:t>Approach and Methodology</a:t>
            </a:r>
          </a:p>
          <a:p>
            <a:pPr lvl="1"/>
            <a:r>
              <a:rPr lang="en-SA" dirty="0"/>
              <a:t>Modeling</a:t>
            </a:r>
          </a:p>
          <a:p>
            <a:r>
              <a:rPr lang="en-SA" dirty="0"/>
              <a:t>Challenges and Area of Improvements</a:t>
            </a:r>
          </a:p>
          <a:p>
            <a:r>
              <a:rPr lang="en-SA" dirty="0"/>
              <a:t>Introduced Enhancements</a:t>
            </a:r>
          </a:p>
          <a:p>
            <a:r>
              <a:rPr lang="en-SA" dirty="0"/>
              <a:t>Results</a:t>
            </a:r>
          </a:p>
          <a:p>
            <a:r>
              <a:rPr lang="en-SA" dirty="0"/>
              <a:t>Conclusion</a:t>
            </a:r>
          </a:p>
          <a:p>
            <a:endParaRPr lang="en-SA" dirty="0"/>
          </a:p>
          <a:p>
            <a:endParaRPr lang="en-SA" dirty="0"/>
          </a:p>
        </p:txBody>
      </p:sp>
    </p:spTree>
    <p:extLst>
      <p:ext uri="{BB962C8B-B14F-4D97-AF65-F5344CB8AC3E}">
        <p14:creationId xmlns:p14="http://schemas.microsoft.com/office/powerpoint/2010/main" val="418075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210EE-AF9B-E2D0-56FF-7C86BFAF47C5}"/>
              </a:ext>
            </a:extLst>
          </p:cNvPr>
          <p:cNvSpPr>
            <a:spLocks noGrp="1"/>
          </p:cNvSpPr>
          <p:nvPr>
            <p:ph type="title"/>
          </p:nvPr>
        </p:nvSpPr>
        <p:spPr/>
        <p:txBody>
          <a:bodyPr/>
          <a:lstStyle/>
          <a:p>
            <a:r>
              <a:rPr lang="en-SA" dirty="0"/>
              <a:t>Introduction</a:t>
            </a:r>
          </a:p>
        </p:txBody>
      </p:sp>
      <p:sp>
        <p:nvSpPr>
          <p:cNvPr id="3" name="Content Placeholder 2">
            <a:extLst>
              <a:ext uri="{FF2B5EF4-FFF2-40B4-BE49-F238E27FC236}">
                <a16:creationId xmlns:a16="http://schemas.microsoft.com/office/drawing/2014/main" id="{AD7C90C1-CDDE-A5F5-2AED-ECD03E17BC07}"/>
              </a:ext>
            </a:extLst>
          </p:cNvPr>
          <p:cNvSpPr>
            <a:spLocks noGrp="1"/>
          </p:cNvSpPr>
          <p:nvPr>
            <p:ph idx="1"/>
          </p:nvPr>
        </p:nvSpPr>
        <p:spPr>
          <a:xfrm>
            <a:off x="1371599" y="2286000"/>
            <a:ext cx="9736111" cy="3581400"/>
          </a:xfrm>
        </p:spPr>
        <p:txBody>
          <a:bodyPr/>
          <a:lstStyle/>
          <a:p>
            <a:r>
              <a:rPr lang="en-SA" dirty="0"/>
              <a:t>The accumlation of trash in public areas is a concern</a:t>
            </a:r>
          </a:p>
          <a:p>
            <a:r>
              <a:rPr lang="en-SA" dirty="0"/>
              <a:t>Trash affects the environment negatively</a:t>
            </a:r>
          </a:p>
          <a:p>
            <a:r>
              <a:rPr lang="en-SA" dirty="0"/>
              <a:t>To keep environment clean, there is a need for monitoring systems</a:t>
            </a:r>
          </a:p>
          <a:p>
            <a:pPr lvl="1"/>
            <a:r>
              <a:rPr lang="en-SA" dirty="0"/>
              <a:t>Automated</a:t>
            </a:r>
          </a:p>
          <a:p>
            <a:pPr lvl="1"/>
            <a:r>
              <a:rPr lang="en-SA" dirty="0"/>
              <a:t>Accurate</a:t>
            </a:r>
          </a:p>
          <a:p>
            <a:r>
              <a:rPr lang="en-US" dirty="0"/>
              <a:t>Computer vision models</a:t>
            </a:r>
            <a:endParaRPr lang="en-SA" dirty="0"/>
          </a:p>
        </p:txBody>
      </p:sp>
      <p:pic>
        <p:nvPicPr>
          <p:cNvPr id="5" name="Picture 4">
            <a:extLst>
              <a:ext uri="{FF2B5EF4-FFF2-40B4-BE49-F238E27FC236}">
                <a16:creationId xmlns:a16="http://schemas.microsoft.com/office/drawing/2014/main" id="{1012D3E1-DEBA-0009-B63A-84A09087BDEF}"/>
              </a:ext>
            </a:extLst>
          </p:cNvPr>
          <p:cNvPicPr>
            <a:picLocks noChangeAspect="1"/>
          </p:cNvPicPr>
          <p:nvPr/>
        </p:nvPicPr>
        <p:blipFill>
          <a:blip r:embed="rId3"/>
          <a:stretch>
            <a:fillRect/>
          </a:stretch>
        </p:blipFill>
        <p:spPr>
          <a:xfrm>
            <a:off x="9394148" y="3429000"/>
            <a:ext cx="2247900" cy="3009900"/>
          </a:xfrm>
          <a:prstGeom prst="rect">
            <a:avLst/>
          </a:prstGeom>
        </p:spPr>
      </p:pic>
    </p:spTree>
    <p:extLst>
      <p:ext uri="{BB962C8B-B14F-4D97-AF65-F5344CB8AC3E}">
        <p14:creationId xmlns:p14="http://schemas.microsoft.com/office/powerpoint/2010/main" val="927231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191E-AD2F-C0CC-1DD6-2ADF10C385C4}"/>
              </a:ext>
            </a:extLst>
          </p:cNvPr>
          <p:cNvSpPr>
            <a:spLocks noGrp="1"/>
          </p:cNvSpPr>
          <p:nvPr>
            <p:ph type="title"/>
          </p:nvPr>
        </p:nvSpPr>
        <p:spPr/>
        <p:txBody>
          <a:bodyPr>
            <a:normAutofit/>
          </a:bodyPr>
          <a:lstStyle/>
          <a:p>
            <a:r>
              <a:rPr lang="en-US" dirty="0"/>
              <a:t>Deep Learning</a:t>
            </a:r>
            <a:br>
              <a:rPr lang="en-SA" dirty="0"/>
            </a:br>
            <a:endParaRPr lang="en-SA" dirty="0"/>
          </a:p>
        </p:txBody>
      </p:sp>
      <p:sp>
        <p:nvSpPr>
          <p:cNvPr id="3" name="Content Placeholder 2">
            <a:extLst>
              <a:ext uri="{FF2B5EF4-FFF2-40B4-BE49-F238E27FC236}">
                <a16:creationId xmlns:a16="http://schemas.microsoft.com/office/drawing/2014/main" id="{8BC21570-C738-E5FF-CBB1-3B4942618AFE}"/>
              </a:ext>
            </a:extLst>
          </p:cNvPr>
          <p:cNvSpPr>
            <a:spLocks noGrp="1"/>
          </p:cNvSpPr>
          <p:nvPr>
            <p:ph idx="1"/>
          </p:nvPr>
        </p:nvSpPr>
        <p:spPr/>
        <p:txBody>
          <a:bodyPr/>
          <a:lstStyle/>
          <a:p>
            <a:r>
              <a:rPr lang="en-SA" dirty="0"/>
              <a:t>Deep learning can help in detecting trash in the wild:</a:t>
            </a:r>
          </a:p>
          <a:p>
            <a:pPr lvl="1"/>
            <a:r>
              <a:rPr lang="en-SA" dirty="0"/>
              <a:t>Different backgrounds</a:t>
            </a:r>
          </a:p>
          <a:p>
            <a:pPr lvl="1"/>
            <a:r>
              <a:rPr lang="en-SA" dirty="0"/>
              <a:t>Various Context (beach, parks, etc)</a:t>
            </a:r>
          </a:p>
          <a:p>
            <a:pPr lvl="1"/>
            <a:r>
              <a:rPr lang="en-SA" dirty="0"/>
              <a:t>Deformed, fragmented, aged, occluded</a:t>
            </a:r>
          </a:p>
          <a:p>
            <a:r>
              <a:rPr lang="en-SA" dirty="0"/>
              <a:t>With presence of solid model, monitoring will be enhanced</a:t>
            </a:r>
          </a:p>
          <a:p>
            <a:pPr lvl="1"/>
            <a:endParaRPr lang="en-SA" dirty="0"/>
          </a:p>
        </p:txBody>
      </p:sp>
      <p:pic>
        <p:nvPicPr>
          <p:cNvPr id="6" name="Picture 5">
            <a:extLst>
              <a:ext uri="{FF2B5EF4-FFF2-40B4-BE49-F238E27FC236}">
                <a16:creationId xmlns:a16="http://schemas.microsoft.com/office/drawing/2014/main" id="{DC883051-D1F7-4CF3-8D58-399DF6E22A39}"/>
              </a:ext>
            </a:extLst>
          </p:cNvPr>
          <p:cNvPicPr>
            <a:picLocks noChangeAspect="1"/>
          </p:cNvPicPr>
          <p:nvPr/>
        </p:nvPicPr>
        <p:blipFill>
          <a:blip r:embed="rId3"/>
          <a:stretch>
            <a:fillRect/>
          </a:stretch>
        </p:blipFill>
        <p:spPr>
          <a:xfrm>
            <a:off x="8590738" y="3423033"/>
            <a:ext cx="2735691" cy="2749167"/>
          </a:xfrm>
          <a:prstGeom prst="rect">
            <a:avLst/>
          </a:prstGeom>
        </p:spPr>
      </p:pic>
    </p:spTree>
    <p:extLst>
      <p:ext uri="{BB962C8B-B14F-4D97-AF65-F5344CB8AC3E}">
        <p14:creationId xmlns:p14="http://schemas.microsoft.com/office/powerpoint/2010/main" val="2871150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8C89EA62-F38E-4285-A105-C5E1BD36009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9" name="Freeform 6">
              <a:extLst>
                <a:ext uri="{FF2B5EF4-FFF2-40B4-BE49-F238E27FC236}">
                  <a16:creationId xmlns:a16="http://schemas.microsoft.com/office/drawing/2014/main" id="{2CF6E46A-CCCD-4728-B011-E147B2362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0" name="Freeform 6">
              <a:extLst>
                <a:ext uri="{FF2B5EF4-FFF2-40B4-BE49-F238E27FC236}">
                  <a16:creationId xmlns:a16="http://schemas.microsoft.com/office/drawing/2014/main" id="{2E2C684B-30C9-4689-A529-EBF1B8ADB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 useBgFill="1">
        <p:nvSpPr>
          <p:cNvPr id="12" name="Rectangle 11">
            <a:extLst>
              <a:ext uri="{FF2B5EF4-FFF2-40B4-BE49-F238E27FC236}">
                <a16:creationId xmlns:a16="http://schemas.microsoft.com/office/drawing/2014/main" id="{9ECB0E0D-AC1B-4E83-84EA-237BFA2063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6DCB3B1-E1A7-4510-831B-77C8EFF56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5" name="Freeform 6">
              <a:extLst>
                <a:ext uri="{FF2B5EF4-FFF2-40B4-BE49-F238E27FC236}">
                  <a16:creationId xmlns:a16="http://schemas.microsoft.com/office/drawing/2014/main" id="{10132A3B-10CF-4EEB-BA1F-A63D2ED61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6" name="Freeform 6">
              <a:extLst>
                <a:ext uri="{FF2B5EF4-FFF2-40B4-BE49-F238E27FC236}">
                  <a16:creationId xmlns:a16="http://schemas.microsoft.com/office/drawing/2014/main" id="{014E52ED-3C51-46E6-BE4B-14FFAB2C3D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
        <p:nvSpPr>
          <p:cNvPr id="2" name="Title 1">
            <a:extLst>
              <a:ext uri="{FF2B5EF4-FFF2-40B4-BE49-F238E27FC236}">
                <a16:creationId xmlns:a16="http://schemas.microsoft.com/office/drawing/2014/main" id="{BED222BF-B0FA-7F73-E6E0-B5061B9F325E}"/>
              </a:ext>
            </a:extLst>
          </p:cNvPr>
          <p:cNvSpPr>
            <a:spLocks noGrp="1"/>
          </p:cNvSpPr>
          <p:nvPr>
            <p:ph type="title"/>
          </p:nvPr>
        </p:nvSpPr>
        <p:spPr>
          <a:xfrm>
            <a:off x="1478521" y="1480930"/>
            <a:ext cx="5751537" cy="3848521"/>
          </a:xfrm>
        </p:spPr>
        <p:txBody>
          <a:bodyPr vert="horz" lIns="91440" tIns="45720" rIns="91440" bIns="45720" rtlCol="0" anchor="ctr">
            <a:normAutofit/>
          </a:bodyPr>
          <a:lstStyle/>
          <a:p>
            <a:pPr algn="r"/>
            <a:r>
              <a:rPr lang="en-US" sz="6600" cap="all" dirty="0"/>
              <a:t>Original Model</a:t>
            </a:r>
          </a:p>
        </p:txBody>
      </p:sp>
      <p:cxnSp>
        <p:nvCxnSpPr>
          <p:cNvPr id="18" name="Straight Connector 17">
            <a:extLst>
              <a:ext uri="{FF2B5EF4-FFF2-40B4-BE49-F238E27FC236}">
                <a16:creationId xmlns:a16="http://schemas.microsoft.com/office/drawing/2014/main" id="{6116DDC6-8F07-46CC-8751-E5C9346B2A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4964" y="2388358"/>
            <a:ext cx="0" cy="1856096"/>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955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9EDE-D5C3-93AB-4046-75C6FF262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DD9F5-2AA5-5FE2-155E-B172EC18EAF8}"/>
              </a:ext>
            </a:extLst>
          </p:cNvPr>
          <p:cNvSpPr>
            <a:spLocks noGrp="1"/>
          </p:cNvSpPr>
          <p:nvPr>
            <p:ph type="title"/>
          </p:nvPr>
        </p:nvSpPr>
        <p:spPr/>
        <p:txBody>
          <a:bodyPr/>
          <a:lstStyle/>
          <a:p>
            <a:r>
              <a:rPr lang="en-US" dirty="0"/>
              <a:t>Dataset</a:t>
            </a:r>
            <a:endParaRPr lang="en-SA" dirty="0"/>
          </a:p>
        </p:txBody>
      </p:sp>
      <p:sp>
        <p:nvSpPr>
          <p:cNvPr id="3" name="Content Placeholder 2">
            <a:extLst>
              <a:ext uri="{FF2B5EF4-FFF2-40B4-BE49-F238E27FC236}">
                <a16:creationId xmlns:a16="http://schemas.microsoft.com/office/drawing/2014/main" id="{F82C826A-9D6F-4CD2-11E0-37B31741FCBD}"/>
              </a:ext>
            </a:extLst>
          </p:cNvPr>
          <p:cNvSpPr>
            <a:spLocks noGrp="1"/>
          </p:cNvSpPr>
          <p:nvPr>
            <p:ph idx="1"/>
          </p:nvPr>
        </p:nvSpPr>
        <p:spPr>
          <a:xfrm>
            <a:off x="1371599" y="2286000"/>
            <a:ext cx="9736111" cy="3581400"/>
          </a:xfrm>
        </p:spPr>
        <p:txBody>
          <a:bodyPr/>
          <a:lstStyle/>
          <a:p>
            <a:r>
              <a:rPr lang="en-US" dirty="0"/>
              <a:t>TACO: Trash Annotation in Context for Litter Detection Paper</a:t>
            </a:r>
          </a:p>
          <a:p>
            <a:r>
              <a:rPr lang="en-US" dirty="0"/>
              <a:t>Real world images of litter taken in different countries and environments and annotated with detailed masks</a:t>
            </a:r>
          </a:p>
          <a:p>
            <a:r>
              <a:rPr lang="en-US" dirty="0"/>
              <a:t>High resolution </a:t>
            </a:r>
            <a:r>
              <a:rPr lang="en-SA" dirty="0"/>
              <a:t>1500 images</a:t>
            </a:r>
            <a:r>
              <a:rPr lang="en-US" dirty="0"/>
              <a:t> (4784 annotations)</a:t>
            </a:r>
          </a:p>
          <a:p>
            <a:endParaRPr lang="en-SA" dirty="0"/>
          </a:p>
          <a:p>
            <a:r>
              <a:rPr lang="en-US" dirty="0"/>
              <a:t>60 classes (highly imbalanced)</a:t>
            </a:r>
          </a:p>
          <a:p>
            <a:pPr marL="0" indent="0">
              <a:buNone/>
            </a:pPr>
            <a:endParaRPr lang="en-SA" dirty="0"/>
          </a:p>
        </p:txBody>
      </p:sp>
      <p:pic>
        <p:nvPicPr>
          <p:cNvPr id="6" name="Picture 5">
            <a:extLst>
              <a:ext uri="{FF2B5EF4-FFF2-40B4-BE49-F238E27FC236}">
                <a16:creationId xmlns:a16="http://schemas.microsoft.com/office/drawing/2014/main" id="{6730F770-9800-1833-9D60-73956C66EDB1}"/>
              </a:ext>
            </a:extLst>
          </p:cNvPr>
          <p:cNvPicPr>
            <a:picLocks noChangeAspect="1"/>
          </p:cNvPicPr>
          <p:nvPr/>
        </p:nvPicPr>
        <p:blipFill>
          <a:blip r:embed="rId3"/>
          <a:stretch>
            <a:fillRect/>
          </a:stretch>
        </p:blipFill>
        <p:spPr>
          <a:xfrm>
            <a:off x="5890725" y="4068919"/>
            <a:ext cx="2322972" cy="2334248"/>
          </a:xfrm>
          <a:prstGeom prst="rect">
            <a:avLst/>
          </a:prstGeom>
        </p:spPr>
      </p:pic>
      <p:pic>
        <p:nvPicPr>
          <p:cNvPr id="8" name="Picture 7">
            <a:extLst>
              <a:ext uri="{FF2B5EF4-FFF2-40B4-BE49-F238E27FC236}">
                <a16:creationId xmlns:a16="http://schemas.microsoft.com/office/drawing/2014/main" id="{74B25ADD-6EA6-764E-A9FC-43AE41B805C4}"/>
              </a:ext>
            </a:extLst>
          </p:cNvPr>
          <p:cNvPicPr>
            <a:picLocks noChangeAspect="1"/>
          </p:cNvPicPr>
          <p:nvPr/>
        </p:nvPicPr>
        <p:blipFill>
          <a:blip r:embed="rId4"/>
          <a:stretch>
            <a:fillRect/>
          </a:stretch>
        </p:blipFill>
        <p:spPr>
          <a:xfrm>
            <a:off x="8312604" y="4068919"/>
            <a:ext cx="2322972" cy="2334248"/>
          </a:xfrm>
          <a:prstGeom prst="rect">
            <a:avLst/>
          </a:prstGeom>
        </p:spPr>
      </p:pic>
    </p:spTree>
    <p:extLst>
      <p:ext uri="{BB962C8B-B14F-4D97-AF65-F5344CB8AC3E}">
        <p14:creationId xmlns:p14="http://schemas.microsoft.com/office/powerpoint/2010/main" val="3219684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191E-AD2F-C0CC-1DD6-2ADF10C385C4}"/>
              </a:ext>
            </a:extLst>
          </p:cNvPr>
          <p:cNvSpPr>
            <a:spLocks noGrp="1"/>
          </p:cNvSpPr>
          <p:nvPr>
            <p:ph type="title"/>
          </p:nvPr>
        </p:nvSpPr>
        <p:spPr/>
        <p:txBody>
          <a:bodyPr>
            <a:normAutofit fontScale="90000"/>
          </a:bodyPr>
          <a:lstStyle/>
          <a:p>
            <a:r>
              <a:rPr lang="en-SA" dirty="0"/>
              <a:t>TACO: Trash Annotation in Context for Litter Detection Paper</a:t>
            </a:r>
            <a:br>
              <a:rPr lang="en-SA" dirty="0"/>
            </a:br>
            <a:endParaRPr lang="en-SA" dirty="0"/>
          </a:p>
        </p:txBody>
      </p:sp>
      <p:sp>
        <p:nvSpPr>
          <p:cNvPr id="3" name="Content Placeholder 2">
            <a:extLst>
              <a:ext uri="{FF2B5EF4-FFF2-40B4-BE49-F238E27FC236}">
                <a16:creationId xmlns:a16="http://schemas.microsoft.com/office/drawing/2014/main" id="{8BC21570-C738-E5FF-CBB1-3B4942618AFE}"/>
              </a:ext>
            </a:extLst>
          </p:cNvPr>
          <p:cNvSpPr>
            <a:spLocks noGrp="1"/>
          </p:cNvSpPr>
          <p:nvPr>
            <p:ph idx="1"/>
          </p:nvPr>
        </p:nvSpPr>
        <p:spPr/>
        <p:txBody>
          <a:bodyPr/>
          <a:lstStyle/>
          <a:p>
            <a:r>
              <a:rPr lang="en-SA" dirty="0"/>
              <a:t>Two main Objectives</a:t>
            </a:r>
          </a:p>
          <a:p>
            <a:pPr lvl="1"/>
            <a:r>
              <a:rPr lang="en-SA" dirty="0"/>
              <a:t>TACO-1: Classify object as Trash or Not Trash</a:t>
            </a:r>
          </a:p>
          <a:p>
            <a:pPr lvl="1"/>
            <a:r>
              <a:rPr lang="en-SA" dirty="0"/>
              <a:t>TACO-10: Predict the category of the trash among 10 super categories</a:t>
            </a:r>
          </a:p>
          <a:p>
            <a:endParaRPr lang="en-SA" dirty="0"/>
          </a:p>
          <a:p>
            <a:pPr lvl="1"/>
            <a:endParaRPr lang="en-SA" dirty="0"/>
          </a:p>
        </p:txBody>
      </p:sp>
    </p:spTree>
    <p:extLst>
      <p:ext uri="{BB962C8B-B14F-4D97-AF65-F5344CB8AC3E}">
        <p14:creationId xmlns:p14="http://schemas.microsoft.com/office/powerpoint/2010/main" val="750684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191E-AD2F-C0CC-1DD6-2ADF10C385C4}"/>
              </a:ext>
            </a:extLst>
          </p:cNvPr>
          <p:cNvSpPr>
            <a:spLocks noGrp="1"/>
          </p:cNvSpPr>
          <p:nvPr>
            <p:ph type="title"/>
          </p:nvPr>
        </p:nvSpPr>
        <p:spPr/>
        <p:txBody>
          <a:bodyPr>
            <a:normAutofit fontScale="90000"/>
          </a:bodyPr>
          <a:lstStyle/>
          <a:p>
            <a:r>
              <a:rPr lang="en-SA" dirty="0"/>
              <a:t>TACO: Trash Annotation in Context for Litter Detection Paper</a:t>
            </a:r>
            <a:br>
              <a:rPr lang="en-SA" dirty="0"/>
            </a:br>
            <a:endParaRPr lang="en-SA" dirty="0"/>
          </a:p>
        </p:txBody>
      </p:sp>
      <p:sp>
        <p:nvSpPr>
          <p:cNvPr id="3" name="Content Placeholder 2">
            <a:extLst>
              <a:ext uri="{FF2B5EF4-FFF2-40B4-BE49-F238E27FC236}">
                <a16:creationId xmlns:a16="http://schemas.microsoft.com/office/drawing/2014/main" id="{8BC21570-C738-E5FF-CBB1-3B4942618AFE}"/>
              </a:ext>
            </a:extLst>
          </p:cNvPr>
          <p:cNvSpPr>
            <a:spLocks noGrp="1"/>
          </p:cNvSpPr>
          <p:nvPr>
            <p:ph idx="1"/>
          </p:nvPr>
        </p:nvSpPr>
        <p:spPr/>
        <p:txBody>
          <a:bodyPr/>
          <a:lstStyle/>
          <a:p>
            <a:r>
              <a:rPr lang="en-SA" dirty="0"/>
              <a:t>Model: Trained with 4-fold cross validation, 1024 x 1024 input</a:t>
            </a:r>
            <a:r>
              <a:rPr lang="en-US" dirty="0"/>
              <a:t> layer</a:t>
            </a:r>
            <a:r>
              <a:rPr lang="en-SA" dirty="0"/>
              <a:t> size</a:t>
            </a:r>
          </a:p>
          <a:p>
            <a:pPr lvl="1"/>
            <a:r>
              <a:rPr lang="en-SA" dirty="0"/>
              <a:t>Mask R-CNN</a:t>
            </a:r>
          </a:p>
          <a:p>
            <a:pPr lvl="1"/>
            <a:r>
              <a:rPr lang="en-SA" dirty="0"/>
              <a:t>Keras/TensorFlow Version</a:t>
            </a:r>
          </a:p>
          <a:p>
            <a:pPr lvl="1"/>
            <a:r>
              <a:rPr lang="en-SA" dirty="0"/>
              <a:t>ResNet-50 FPN Backbone</a:t>
            </a:r>
          </a:p>
          <a:p>
            <a:pPr lvl="1"/>
            <a:r>
              <a:rPr lang="en-SA" dirty="0"/>
              <a:t>COCO pretrained weights</a:t>
            </a:r>
          </a:p>
          <a:p>
            <a:r>
              <a:rPr lang="en-US" dirty="0"/>
              <a:t>D</a:t>
            </a:r>
            <a:r>
              <a:rPr lang="en-SA" dirty="0"/>
              <a:t>ata </a:t>
            </a:r>
            <a:r>
              <a:rPr lang="en-US" dirty="0"/>
              <a:t>A</a:t>
            </a:r>
            <a:r>
              <a:rPr lang="en-SA" dirty="0"/>
              <a:t>ugmentation</a:t>
            </a:r>
          </a:p>
          <a:p>
            <a:pPr lvl="1"/>
            <a:r>
              <a:rPr lang="en-US" dirty="0"/>
              <a:t> changed image exposure and contrast</a:t>
            </a:r>
            <a:endParaRPr lang="en-SA" dirty="0"/>
          </a:p>
          <a:p>
            <a:pPr lvl="1"/>
            <a:r>
              <a:rPr lang="en-US" dirty="0"/>
              <a:t> rotated images between [-45, 45]</a:t>
            </a:r>
          </a:p>
          <a:p>
            <a:pPr lvl="1"/>
            <a:r>
              <a:rPr lang="en-SA" dirty="0"/>
              <a:t>transplant</a:t>
            </a:r>
          </a:p>
        </p:txBody>
      </p:sp>
      <p:pic>
        <p:nvPicPr>
          <p:cNvPr id="5" name="Picture 4">
            <a:extLst>
              <a:ext uri="{FF2B5EF4-FFF2-40B4-BE49-F238E27FC236}">
                <a16:creationId xmlns:a16="http://schemas.microsoft.com/office/drawing/2014/main" id="{B581F95A-5CEE-A394-D59D-1E7A73DA9D68}"/>
              </a:ext>
            </a:extLst>
          </p:cNvPr>
          <p:cNvPicPr>
            <a:picLocks noChangeAspect="1"/>
          </p:cNvPicPr>
          <p:nvPr/>
        </p:nvPicPr>
        <p:blipFill>
          <a:blip r:embed="rId3"/>
          <a:stretch>
            <a:fillRect/>
          </a:stretch>
        </p:blipFill>
        <p:spPr>
          <a:xfrm>
            <a:off x="6758280" y="4917938"/>
            <a:ext cx="2219185" cy="1618156"/>
          </a:xfrm>
          <a:prstGeom prst="rect">
            <a:avLst/>
          </a:prstGeom>
        </p:spPr>
      </p:pic>
      <p:pic>
        <p:nvPicPr>
          <p:cNvPr id="7" name="Picture 6">
            <a:extLst>
              <a:ext uri="{FF2B5EF4-FFF2-40B4-BE49-F238E27FC236}">
                <a16:creationId xmlns:a16="http://schemas.microsoft.com/office/drawing/2014/main" id="{4882EA6B-1441-521F-5E4B-E48EC80515DD}"/>
              </a:ext>
            </a:extLst>
          </p:cNvPr>
          <p:cNvPicPr>
            <a:picLocks noChangeAspect="1"/>
          </p:cNvPicPr>
          <p:nvPr/>
        </p:nvPicPr>
        <p:blipFill>
          <a:blip r:embed="rId4"/>
          <a:stretch>
            <a:fillRect/>
          </a:stretch>
        </p:blipFill>
        <p:spPr>
          <a:xfrm>
            <a:off x="9164344" y="4917938"/>
            <a:ext cx="2595793" cy="1618156"/>
          </a:xfrm>
          <a:prstGeom prst="rect">
            <a:avLst/>
          </a:prstGeom>
        </p:spPr>
      </p:pic>
    </p:spTree>
    <p:extLst>
      <p:ext uri="{BB962C8B-B14F-4D97-AF65-F5344CB8AC3E}">
        <p14:creationId xmlns:p14="http://schemas.microsoft.com/office/powerpoint/2010/main" val="1674696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803AA-B34B-BFCD-F2E9-1265308E5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B3479-5D92-E371-DC3B-0A6459E03EE6}"/>
              </a:ext>
            </a:extLst>
          </p:cNvPr>
          <p:cNvSpPr>
            <a:spLocks noGrp="1"/>
          </p:cNvSpPr>
          <p:nvPr>
            <p:ph type="title"/>
          </p:nvPr>
        </p:nvSpPr>
        <p:spPr/>
        <p:txBody>
          <a:bodyPr/>
          <a:lstStyle/>
          <a:p>
            <a:r>
              <a:rPr lang="en-SA" dirty="0"/>
              <a:t>Results</a:t>
            </a:r>
          </a:p>
        </p:txBody>
      </p:sp>
      <p:sp>
        <p:nvSpPr>
          <p:cNvPr id="4" name="Oval 3">
            <a:extLst>
              <a:ext uri="{FF2B5EF4-FFF2-40B4-BE49-F238E27FC236}">
                <a16:creationId xmlns:a16="http://schemas.microsoft.com/office/drawing/2014/main" id="{C3A062B5-5E8B-3BD6-F269-4A83ADE24687}"/>
              </a:ext>
            </a:extLst>
          </p:cNvPr>
          <p:cNvSpPr/>
          <p:nvPr/>
        </p:nvSpPr>
        <p:spPr>
          <a:xfrm>
            <a:off x="3417755" y="2512726"/>
            <a:ext cx="2353456" cy="2449017"/>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SA" sz="2800" dirty="0"/>
              <a:t>TACO-</a:t>
            </a:r>
            <a:r>
              <a:rPr lang="en-US" sz="2800" dirty="0"/>
              <a:t>1</a:t>
            </a:r>
            <a:endParaRPr lang="en-SA" sz="2800" dirty="0"/>
          </a:p>
          <a:p>
            <a:pPr algn="ctr"/>
            <a:r>
              <a:rPr lang="en-SA" sz="2800" dirty="0"/>
              <a:t>AP: </a:t>
            </a:r>
            <a:r>
              <a:rPr lang="en-US" sz="2800" dirty="0"/>
              <a:t>~26</a:t>
            </a:r>
            <a:r>
              <a:rPr lang="en-SA" sz="2800" dirty="0"/>
              <a:t>%</a:t>
            </a:r>
          </a:p>
        </p:txBody>
      </p:sp>
      <p:sp>
        <p:nvSpPr>
          <p:cNvPr id="5" name="Oval 4">
            <a:extLst>
              <a:ext uri="{FF2B5EF4-FFF2-40B4-BE49-F238E27FC236}">
                <a16:creationId xmlns:a16="http://schemas.microsoft.com/office/drawing/2014/main" id="{D885DF4C-0152-EFA1-A942-6DA7592A629D}"/>
              </a:ext>
            </a:extLst>
          </p:cNvPr>
          <p:cNvSpPr/>
          <p:nvPr/>
        </p:nvSpPr>
        <p:spPr>
          <a:xfrm>
            <a:off x="7512568" y="2512726"/>
            <a:ext cx="2353456" cy="244901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SA" sz="2800" dirty="0"/>
              <a:t>TACO-10</a:t>
            </a:r>
          </a:p>
          <a:p>
            <a:pPr algn="ctr"/>
            <a:r>
              <a:rPr lang="en-SA" sz="2800" dirty="0"/>
              <a:t>AP: </a:t>
            </a:r>
            <a:r>
              <a:rPr lang="en-US" sz="2800" dirty="0"/>
              <a:t>~</a:t>
            </a:r>
            <a:r>
              <a:rPr lang="en-SA" sz="2800" dirty="0"/>
              <a:t>19%</a:t>
            </a:r>
          </a:p>
        </p:txBody>
      </p:sp>
    </p:spTree>
    <p:extLst>
      <p:ext uri="{BB962C8B-B14F-4D97-AF65-F5344CB8AC3E}">
        <p14:creationId xmlns:p14="http://schemas.microsoft.com/office/powerpoint/2010/main" val="3253790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A72CA-522B-7B24-B1FF-631536B6F469}"/>
              </a:ext>
            </a:extLst>
          </p:cNvPr>
          <p:cNvSpPr>
            <a:spLocks noGrp="1"/>
          </p:cNvSpPr>
          <p:nvPr>
            <p:ph type="title"/>
          </p:nvPr>
        </p:nvSpPr>
        <p:spPr/>
        <p:txBody>
          <a:bodyPr/>
          <a:lstStyle/>
          <a:p>
            <a:r>
              <a:rPr lang="en-US" dirty="0"/>
              <a:t>Predictions on TACO-10</a:t>
            </a:r>
          </a:p>
        </p:txBody>
      </p:sp>
      <p:pic>
        <p:nvPicPr>
          <p:cNvPr id="5" name="Picture 4">
            <a:extLst>
              <a:ext uri="{FF2B5EF4-FFF2-40B4-BE49-F238E27FC236}">
                <a16:creationId xmlns:a16="http://schemas.microsoft.com/office/drawing/2014/main" id="{D1DEDD53-B4D9-6463-6416-E7E87D953C50}"/>
              </a:ext>
            </a:extLst>
          </p:cNvPr>
          <p:cNvPicPr>
            <a:picLocks noChangeAspect="1"/>
          </p:cNvPicPr>
          <p:nvPr/>
        </p:nvPicPr>
        <p:blipFill>
          <a:blip r:embed="rId2"/>
          <a:stretch>
            <a:fillRect/>
          </a:stretch>
        </p:blipFill>
        <p:spPr>
          <a:xfrm>
            <a:off x="1371600" y="2171700"/>
            <a:ext cx="7152329" cy="3538634"/>
          </a:xfrm>
          <a:prstGeom prst="rect">
            <a:avLst/>
          </a:prstGeom>
        </p:spPr>
      </p:pic>
    </p:spTree>
    <p:extLst>
      <p:ext uri="{BB962C8B-B14F-4D97-AF65-F5344CB8AC3E}">
        <p14:creationId xmlns:p14="http://schemas.microsoft.com/office/powerpoint/2010/main" val="2302907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AC659-A734-9BD2-8007-98D5FFF3A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9A9E9-8883-83BB-C011-ABCF2F0B9C89}"/>
              </a:ext>
            </a:extLst>
          </p:cNvPr>
          <p:cNvSpPr>
            <a:spLocks noGrp="1"/>
          </p:cNvSpPr>
          <p:nvPr>
            <p:ph type="title"/>
          </p:nvPr>
        </p:nvSpPr>
        <p:spPr/>
        <p:txBody>
          <a:bodyPr/>
          <a:lstStyle/>
          <a:p>
            <a:r>
              <a:rPr lang="en-US" dirty="0"/>
              <a:t>Predictions on TACO-10</a:t>
            </a:r>
          </a:p>
        </p:txBody>
      </p:sp>
      <p:pic>
        <p:nvPicPr>
          <p:cNvPr id="3" name="Picture 2">
            <a:extLst>
              <a:ext uri="{FF2B5EF4-FFF2-40B4-BE49-F238E27FC236}">
                <a16:creationId xmlns:a16="http://schemas.microsoft.com/office/drawing/2014/main" id="{FB8760C3-A435-A8B8-1D71-A11128AAABBE}"/>
              </a:ext>
            </a:extLst>
          </p:cNvPr>
          <p:cNvPicPr>
            <a:picLocks noChangeAspect="1"/>
          </p:cNvPicPr>
          <p:nvPr/>
        </p:nvPicPr>
        <p:blipFill>
          <a:blip r:embed="rId2"/>
          <a:stretch>
            <a:fillRect/>
          </a:stretch>
        </p:blipFill>
        <p:spPr>
          <a:xfrm>
            <a:off x="1371600" y="2097056"/>
            <a:ext cx="7141999" cy="3538633"/>
          </a:xfrm>
          <a:prstGeom prst="rect">
            <a:avLst/>
          </a:prstGeom>
        </p:spPr>
      </p:pic>
    </p:spTree>
    <p:extLst>
      <p:ext uri="{BB962C8B-B14F-4D97-AF65-F5344CB8AC3E}">
        <p14:creationId xmlns:p14="http://schemas.microsoft.com/office/powerpoint/2010/main" val="1258255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85E6E-84DE-9A31-D25C-DB7C57A706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D1242-EA04-D886-4E49-AED292F9B382}"/>
              </a:ext>
            </a:extLst>
          </p:cNvPr>
          <p:cNvSpPr>
            <a:spLocks noGrp="1"/>
          </p:cNvSpPr>
          <p:nvPr>
            <p:ph type="title"/>
          </p:nvPr>
        </p:nvSpPr>
        <p:spPr/>
        <p:txBody>
          <a:bodyPr/>
          <a:lstStyle/>
          <a:p>
            <a:r>
              <a:rPr lang="en-US" dirty="0"/>
              <a:t>Predictions on TACO-10</a:t>
            </a:r>
          </a:p>
        </p:txBody>
      </p:sp>
      <p:pic>
        <p:nvPicPr>
          <p:cNvPr id="4" name="Picture 3">
            <a:extLst>
              <a:ext uri="{FF2B5EF4-FFF2-40B4-BE49-F238E27FC236}">
                <a16:creationId xmlns:a16="http://schemas.microsoft.com/office/drawing/2014/main" id="{8FE0F0DD-8EE0-0D4B-9C2A-0031C1C3F48D}"/>
              </a:ext>
            </a:extLst>
          </p:cNvPr>
          <p:cNvPicPr>
            <a:picLocks noChangeAspect="1"/>
          </p:cNvPicPr>
          <p:nvPr/>
        </p:nvPicPr>
        <p:blipFill>
          <a:blip r:embed="rId2"/>
          <a:stretch>
            <a:fillRect/>
          </a:stretch>
        </p:blipFill>
        <p:spPr>
          <a:xfrm>
            <a:off x="1371600" y="2304053"/>
            <a:ext cx="7141999" cy="3549357"/>
          </a:xfrm>
          <a:prstGeom prst="rect">
            <a:avLst/>
          </a:prstGeom>
        </p:spPr>
      </p:pic>
    </p:spTree>
    <p:extLst>
      <p:ext uri="{BB962C8B-B14F-4D97-AF65-F5344CB8AC3E}">
        <p14:creationId xmlns:p14="http://schemas.microsoft.com/office/powerpoint/2010/main" val="66714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B6BC8-A76A-5027-8B1D-399AE02ADF49}"/>
              </a:ext>
            </a:extLst>
          </p:cNvPr>
          <p:cNvSpPr>
            <a:spLocks noGrp="1"/>
          </p:cNvSpPr>
          <p:nvPr>
            <p:ph type="title"/>
          </p:nvPr>
        </p:nvSpPr>
        <p:spPr/>
        <p:txBody>
          <a:bodyPr/>
          <a:lstStyle/>
          <a:p>
            <a:r>
              <a:rPr lang="en-SA" dirty="0"/>
              <a:t>Challenges and Area of Improvements</a:t>
            </a:r>
          </a:p>
        </p:txBody>
      </p:sp>
      <p:sp>
        <p:nvSpPr>
          <p:cNvPr id="3" name="Content Placeholder 2">
            <a:extLst>
              <a:ext uri="{FF2B5EF4-FFF2-40B4-BE49-F238E27FC236}">
                <a16:creationId xmlns:a16="http://schemas.microsoft.com/office/drawing/2014/main" id="{DA70E83B-4B96-09DD-E92E-00056FF66568}"/>
              </a:ext>
            </a:extLst>
          </p:cNvPr>
          <p:cNvSpPr>
            <a:spLocks noGrp="1"/>
          </p:cNvSpPr>
          <p:nvPr>
            <p:ph idx="1"/>
          </p:nvPr>
        </p:nvSpPr>
        <p:spPr/>
        <p:txBody>
          <a:bodyPr/>
          <a:lstStyle/>
          <a:p>
            <a:r>
              <a:rPr lang="en-SA" dirty="0"/>
              <a:t>Limited dataset (1500 images)</a:t>
            </a:r>
          </a:p>
          <a:p>
            <a:r>
              <a:rPr lang="en-SA" dirty="0"/>
              <a:t>Large number of classes (60 classes)</a:t>
            </a:r>
          </a:p>
          <a:p>
            <a:pPr lvl="1"/>
            <a:r>
              <a:rPr lang="en-US" dirty="0"/>
              <a:t>S</a:t>
            </a:r>
            <a:r>
              <a:rPr lang="en-SA" dirty="0"/>
              <a:t>ome classes had very limited instances</a:t>
            </a:r>
          </a:p>
          <a:p>
            <a:r>
              <a:rPr lang="en-SA" dirty="0"/>
              <a:t>Imbalance dataset</a:t>
            </a:r>
          </a:p>
          <a:p>
            <a:r>
              <a:rPr lang="en-SA" dirty="0"/>
              <a:t>Inaccuracy in detecting small objects such as cigaretes</a:t>
            </a:r>
          </a:p>
        </p:txBody>
      </p:sp>
    </p:spTree>
    <p:extLst>
      <p:ext uri="{BB962C8B-B14F-4D97-AF65-F5344CB8AC3E}">
        <p14:creationId xmlns:p14="http://schemas.microsoft.com/office/powerpoint/2010/main" val="371467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BDEE6CA-0891-D5F9-A78B-DAC03501A43D}"/>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B13AA81C-E3D7-597C-0972-0425784127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9" name="Freeform 6">
              <a:extLst>
                <a:ext uri="{FF2B5EF4-FFF2-40B4-BE49-F238E27FC236}">
                  <a16:creationId xmlns:a16="http://schemas.microsoft.com/office/drawing/2014/main" id="{10663A88-158E-5CAA-FA5B-17206DA32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0" name="Freeform 6">
              <a:extLst>
                <a:ext uri="{FF2B5EF4-FFF2-40B4-BE49-F238E27FC236}">
                  <a16:creationId xmlns:a16="http://schemas.microsoft.com/office/drawing/2014/main" id="{69D82A3D-7456-D4B9-C74F-F0E3623C96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 useBgFill="1">
        <p:nvSpPr>
          <p:cNvPr id="12" name="Rectangle 11">
            <a:extLst>
              <a:ext uri="{FF2B5EF4-FFF2-40B4-BE49-F238E27FC236}">
                <a16:creationId xmlns:a16="http://schemas.microsoft.com/office/drawing/2014/main" id="{ECF00778-76CC-2007-97CE-24B922A94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AA769C50-8076-2D64-4D71-DF135F6B95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5" name="Freeform 6">
              <a:extLst>
                <a:ext uri="{FF2B5EF4-FFF2-40B4-BE49-F238E27FC236}">
                  <a16:creationId xmlns:a16="http://schemas.microsoft.com/office/drawing/2014/main" id="{7A9B62F0-D921-2CB4-3BB2-2AC183F21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6" name="Freeform 6">
              <a:extLst>
                <a:ext uri="{FF2B5EF4-FFF2-40B4-BE49-F238E27FC236}">
                  <a16:creationId xmlns:a16="http://schemas.microsoft.com/office/drawing/2014/main" id="{9A1E8AF0-AF71-8415-B12A-DF6968C518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
        <p:nvSpPr>
          <p:cNvPr id="2" name="Title 1">
            <a:extLst>
              <a:ext uri="{FF2B5EF4-FFF2-40B4-BE49-F238E27FC236}">
                <a16:creationId xmlns:a16="http://schemas.microsoft.com/office/drawing/2014/main" id="{7EF59997-9EB9-AE13-E7B7-4FD98E5DA016}"/>
              </a:ext>
            </a:extLst>
          </p:cNvPr>
          <p:cNvSpPr>
            <a:spLocks noGrp="1"/>
          </p:cNvSpPr>
          <p:nvPr>
            <p:ph type="title"/>
          </p:nvPr>
        </p:nvSpPr>
        <p:spPr>
          <a:xfrm>
            <a:off x="1263908" y="1480930"/>
            <a:ext cx="6275227" cy="3848521"/>
          </a:xfrm>
        </p:spPr>
        <p:txBody>
          <a:bodyPr vert="horz" lIns="91440" tIns="45720" rIns="91440" bIns="45720" rtlCol="0" anchor="ctr">
            <a:normAutofit/>
          </a:bodyPr>
          <a:lstStyle/>
          <a:p>
            <a:pPr algn="r"/>
            <a:r>
              <a:rPr lang="en-US" sz="6600" cap="all" dirty="0"/>
              <a:t>Introduced Enhancements</a:t>
            </a:r>
          </a:p>
        </p:txBody>
      </p:sp>
      <p:cxnSp>
        <p:nvCxnSpPr>
          <p:cNvPr id="18" name="Straight Connector 17">
            <a:extLst>
              <a:ext uri="{FF2B5EF4-FFF2-40B4-BE49-F238E27FC236}">
                <a16:creationId xmlns:a16="http://schemas.microsoft.com/office/drawing/2014/main" id="{104B562B-BC63-B810-04CA-63F039D68A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4964" y="2388358"/>
            <a:ext cx="0" cy="1856096"/>
          </a:xfrm>
          <a:prstGeom prst="line">
            <a:avLst/>
          </a:prstGeom>
          <a:ln w="25400" cap="sq">
            <a:solidFill>
              <a:schemeClr val="tx1"/>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599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1C316-A715-B585-66BB-766DB1E475A2}"/>
              </a:ext>
            </a:extLst>
          </p:cNvPr>
          <p:cNvSpPr>
            <a:spLocks noGrp="1"/>
          </p:cNvSpPr>
          <p:nvPr>
            <p:ph type="title"/>
          </p:nvPr>
        </p:nvSpPr>
        <p:spPr/>
        <p:txBody>
          <a:bodyPr/>
          <a:lstStyle/>
          <a:p>
            <a:r>
              <a:rPr lang="en-SA" dirty="0"/>
              <a:t>Introduced Enhancements</a:t>
            </a:r>
          </a:p>
        </p:txBody>
      </p:sp>
      <p:sp>
        <p:nvSpPr>
          <p:cNvPr id="3" name="Content Placeholder 2">
            <a:extLst>
              <a:ext uri="{FF2B5EF4-FFF2-40B4-BE49-F238E27FC236}">
                <a16:creationId xmlns:a16="http://schemas.microsoft.com/office/drawing/2014/main" id="{097A22D7-FDDB-B66A-117D-C35BB1D30B29}"/>
              </a:ext>
            </a:extLst>
          </p:cNvPr>
          <p:cNvSpPr>
            <a:spLocks noGrp="1"/>
          </p:cNvSpPr>
          <p:nvPr>
            <p:ph idx="1"/>
          </p:nvPr>
        </p:nvSpPr>
        <p:spPr/>
        <p:txBody>
          <a:bodyPr/>
          <a:lstStyle/>
          <a:p>
            <a:r>
              <a:rPr lang="en-SA" dirty="0"/>
              <a:t>Reduced 60 categories to 18 by removing categories with limited instances</a:t>
            </a:r>
          </a:p>
          <a:p>
            <a:r>
              <a:rPr lang="en-SA" dirty="0"/>
              <a:t>Grouped the 18 categories into 4 main categories</a:t>
            </a:r>
          </a:p>
          <a:p>
            <a:pPr lvl="1"/>
            <a:r>
              <a:rPr lang="en-SA" dirty="0"/>
              <a:t>Bottle, can, plastic bag and other</a:t>
            </a:r>
          </a:p>
          <a:p>
            <a:r>
              <a:rPr lang="en-SA" dirty="0"/>
              <a:t>Stratified split (train/validation/test) 60/20/20</a:t>
            </a:r>
          </a:p>
          <a:p>
            <a:r>
              <a:rPr lang="en-SA" dirty="0"/>
              <a:t>Used Detectron2 by PyTorch</a:t>
            </a:r>
          </a:p>
          <a:p>
            <a:pPr lvl="1"/>
            <a:r>
              <a:rPr lang="en-SA" dirty="0"/>
              <a:t>Paper had old version of TensorFlow</a:t>
            </a:r>
          </a:p>
          <a:p>
            <a:pPr lvl="1"/>
            <a:endParaRPr lang="en-SA" dirty="0"/>
          </a:p>
          <a:p>
            <a:endParaRPr lang="en-SA" dirty="0"/>
          </a:p>
          <a:p>
            <a:endParaRPr lang="en-SA" dirty="0"/>
          </a:p>
        </p:txBody>
      </p:sp>
      <p:pic>
        <p:nvPicPr>
          <p:cNvPr id="5" name="Picture 4">
            <a:extLst>
              <a:ext uri="{FF2B5EF4-FFF2-40B4-BE49-F238E27FC236}">
                <a16:creationId xmlns:a16="http://schemas.microsoft.com/office/drawing/2014/main" id="{B5F48EB4-3A9D-C147-AC7D-8E200A05ECC3}"/>
              </a:ext>
            </a:extLst>
          </p:cNvPr>
          <p:cNvPicPr>
            <a:picLocks noChangeAspect="1"/>
          </p:cNvPicPr>
          <p:nvPr/>
        </p:nvPicPr>
        <p:blipFill>
          <a:blip r:embed="rId2"/>
          <a:stretch>
            <a:fillRect/>
          </a:stretch>
        </p:blipFill>
        <p:spPr>
          <a:xfrm>
            <a:off x="7030390" y="3124822"/>
            <a:ext cx="4796852" cy="3066738"/>
          </a:xfrm>
          <a:prstGeom prst="rect">
            <a:avLst/>
          </a:prstGeom>
        </p:spPr>
      </p:pic>
    </p:spTree>
    <p:extLst>
      <p:ext uri="{BB962C8B-B14F-4D97-AF65-F5344CB8AC3E}">
        <p14:creationId xmlns:p14="http://schemas.microsoft.com/office/powerpoint/2010/main" val="2097510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AFA2A-1654-5B3C-18A3-968F512B8478}"/>
              </a:ext>
            </a:extLst>
          </p:cNvPr>
          <p:cNvSpPr>
            <a:spLocks noGrp="1"/>
          </p:cNvSpPr>
          <p:nvPr>
            <p:ph type="title"/>
          </p:nvPr>
        </p:nvSpPr>
        <p:spPr/>
        <p:txBody>
          <a:bodyPr/>
          <a:lstStyle/>
          <a:p>
            <a:r>
              <a:rPr lang="en-SA" dirty="0"/>
              <a:t>Results</a:t>
            </a:r>
          </a:p>
        </p:txBody>
      </p:sp>
      <p:sp>
        <p:nvSpPr>
          <p:cNvPr id="4" name="Oval 3">
            <a:extLst>
              <a:ext uri="{FF2B5EF4-FFF2-40B4-BE49-F238E27FC236}">
                <a16:creationId xmlns:a16="http://schemas.microsoft.com/office/drawing/2014/main" id="{52DC94FB-BDD1-487A-4767-5F7E4C91C63F}"/>
              </a:ext>
            </a:extLst>
          </p:cNvPr>
          <p:cNvSpPr/>
          <p:nvPr/>
        </p:nvSpPr>
        <p:spPr>
          <a:xfrm>
            <a:off x="3417755" y="2512726"/>
            <a:ext cx="2353456" cy="2449017"/>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SA" sz="2800" dirty="0"/>
              <a:t>TACO-4</a:t>
            </a:r>
          </a:p>
          <a:p>
            <a:pPr algn="ctr"/>
            <a:r>
              <a:rPr lang="en-SA" sz="2800" dirty="0"/>
              <a:t>AP: 35%</a:t>
            </a:r>
          </a:p>
        </p:txBody>
      </p:sp>
      <p:sp>
        <p:nvSpPr>
          <p:cNvPr id="5" name="Oval 4">
            <a:extLst>
              <a:ext uri="{FF2B5EF4-FFF2-40B4-BE49-F238E27FC236}">
                <a16:creationId xmlns:a16="http://schemas.microsoft.com/office/drawing/2014/main" id="{A41DD6AD-DCFB-14B3-AB3F-A7AC473C2320}"/>
              </a:ext>
            </a:extLst>
          </p:cNvPr>
          <p:cNvSpPr/>
          <p:nvPr/>
        </p:nvSpPr>
        <p:spPr>
          <a:xfrm>
            <a:off x="7512568" y="2512726"/>
            <a:ext cx="2353456" cy="2449017"/>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SA" sz="2800" dirty="0"/>
              <a:t>TACO-10</a:t>
            </a:r>
          </a:p>
          <a:p>
            <a:pPr algn="ctr"/>
            <a:r>
              <a:rPr lang="en-SA" sz="2800" dirty="0"/>
              <a:t>AP: 19%</a:t>
            </a:r>
          </a:p>
        </p:txBody>
      </p:sp>
    </p:spTree>
    <p:extLst>
      <p:ext uri="{BB962C8B-B14F-4D97-AF65-F5344CB8AC3E}">
        <p14:creationId xmlns:p14="http://schemas.microsoft.com/office/powerpoint/2010/main" val="1597814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3DA6E-77B7-FD7E-524E-9B2F49BEA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463AD-9DA8-59C3-D46F-73FE1B817279}"/>
              </a:ext>
            </a:extLst>
          </p:cNvPr>
          <p:cNvSpPr>
            <a:spLocks noGrp="1"/>
          </p:cNvSpPr>
          <p:nvPr>
            <p:ph type="title"/>
          </p:nvPr>
        </p:nvSpPr>
        <p:spPr/>
        <p:txBody>
          <a:bodyPr/>
          <a:lstStyle/>
          <a:p>
            <a:r>
              <a:rPr lang="en-US" dirty="0"/>
              <a:t>Predictions (On TACO Dataset)</a:t>
            </a:r>
          </a:p>
        </p:txBody>
      </p:sp>
      <p:pic>
        <p:nvPicPr>
          <p:cNvPr id="4" name="Picture 3">
            <a:extLst>
              <a:ext uri="{FF2B5EF4-FFF2-40B4-BE49-F238E27FC236}">
                <a16:creationId xmlns:a16="http://schemas.microsoft.com/office/drawing/2014/main" id="{BD19BC11-EEFB-8F57-4C3E-3DA034AD1C8C}"/>
              </a:ext>
            </a:extLst>
          </p:cNvPr>
          <p:cNvPicPr>
            <a:picLocks noChangeAspect="1"/>
          </p:cNvPicPr>
          <p:nvPr/>
        </p:nvPicPr>
        <p:blipFill>
          <a:blip r:embed="rId2"/>
          <a:stretch>
            <a:fillRect/>
          </a:stretch>
        </p:blipFill>
        <p:spPr>
          <a:xfrm>
            <a:off x="1306286" y="1612345"/>
            <a:ext cx="3722914" cy="4977923"/>
          </a:xfrm>
          <a:prstGeom prst="rect">
            <a:avLst/>
          </a:prstGeom>
        </p:spPr>
      </p:pic>
      <p:pic>
        <p:nvPicPr>
          <p:cNvPr id="7" name="Picture 6">
            <a:extLst>
              <a:ext uri="{FF2B5EF4-FFF2-40B4-BE49-F238E27FC236}">
                <a16:creationId xmlns:a16="http://schemas.microsoft.com/office/drawing/2014/main" id="{9CFCCF2C-F834-BEF9-B586-F13232B2DD7D}"/>
              </a:ext>
            </a:extLst>
          </p:cNvPr>
          <p:cNvPicPr>
            <a:picLocks noChangeAspect="1"/>
          </p:cNvPicPr>
          <p:nvPr/>
        </p:nvPicPr>
        <p:blipFill>
          <a:blip r:embed="rId3"/>
          <a:stretch>
            <a:fillRect/>
          </a:stretch>
        </p:blipFill>
        <p:spPr>
          <a:xfrm>
            <a:off x="5312838" y="1612345"/>
            <a:ext cx="2248909" cy="4977923"/>
          </a:xfrm>
          <a:prstGeom prst="rect">
            <a:avLst/>
          </a:prstGeom>
        </p:spPr>
      </p:pic>
      <p:pic>
        <p:nvPicPr>
          <p:cNvPr id="9" name="Picture 8">
            <a:extLst>
              <a:ext uri="{FF2B5EF4-FFF2-40B4-BE49-F238E27FC236}">
                <a16:creationId xmlns:a16="http://schemas.microsoft.com/office/drawing/2014/main" id="{B7D8CC1B-AD44-AAA3-4BBC-235B23EB871A}"/>
              </a:ext>
            </a:extLst>
          </p:cNvPr>
          <p:cNvPicPr>
            <a:picLocks noChangeAspect="1"/>
          </p:cNvPicPr>
          <p:nvPr/>
        </p:nvPicPr>
        <p:blipFill>
          <a:blip r:embed="rId4"/>
          <a:stretch>
            <a:fillRect/>
          </a:stretch>
        </p:blipFill>
        <p:spPr>
          <a:xfrm>
            <a:off x="7882908" y="1612345"/>
            <a:ext cx="3753196" cy="4977923"/>
          </a:xfrm>
          <a:prstGeom prst="rect">
            <a:avLst/>
          </a:prstGeom>
        </p:spPr>
      </p:pic>
    </p:spTree>
    <p:extLst>
      <p:ext uri="{BB962C8B-B14F-4D97-AF65-F5344CB8AC3E}">
        <p14:creationId xmlns:p14="http://schemas.microsoft.com/office/powerpoint/2010/main" val="3116796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4FE1C-579C-D805-A472-B18427FF5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F66EF-6105-C3E7-59EE-33A20825C9FE}"/>
              </a:ext>
            </a:extLst>
          </p:cNvPr>
          <p:cNvSpPr>
            <a:spLocks noGrp="1"/>
          </p:cNvSpPr>
          <p:nvPr>
            <p:ph type="title"/>
          </p:nvPr>
        </p:nvSpPr>
        <p:spPr/>
        <p:txBody>
          <a:bodyPr/>
          <a:lstStyle/>
          <a:p>
            <a:r>
              <a:rPr lang="en-US" dirty="0"/>
              <a:t>Predictions (On TACO Dataset)</a:t>
            </a:r>
          </a:p>
        </p:txBody>
      </p:sp>
      <p:pic>
        <p:nvPicPr>
          <p:cNvPr id="4" name="Picture 3">
            <a:extLst>
              <a:ext uri="{FF2B5EF4-FFF2-40B4-BE49-F238E27FC236}">
                <a16:creationId xmlns:a16="http://schemas.microsoft.com/office/drawing/2014/main" id="{DDADCBCB-3EDB-1001-F1E0-633AE1069863}"/>
              </a:ext>
            </a:extLst>
          </p:cNvPr>
          <p:cNvPicPr>
            <a:picLocks noChangeAspect="1"/>
          </p:cNvPicPr>
          <p:nvPr/>
        </p:nvPicPr>
        <p:blipFill>
          <a:blip r:embed="rId2"/>
          <a:stretch>
            <a:fillRect/>
          </a:stretch>
        </p:blipFill>
        <p:spPr>
          <a:xfrm>
            <a:off x="1371600" y="1969187"/>
            <a:ext cx="3166978" cy="4233868"/>
          </a:xfrm>
          <a:prstGeom prst="rect">
            <a:avLst/>
          </a:prstGeom>
        </p:spPr>
      </p:pic>
      <p:pic>
        <p:nvPicPr>
          <p:cNvPr id="7" name="Picture 6">
            <a:extLst>
              <a:ext uri="{FF2B5EF4-FFF2-40B4-BE49-F238E27FC236}">
                <a16:creationId xmlns:a16="http://schemas.microsoft.com/office/drawing/2014/main" id="{504D3187-70C3-7164-9F7F-A954AFE89E08}"/>
              </a:ext>
            </a:extLst>
          </p:cNvPr>
          <p:cNvPicPr>
            <a:picLocks noChangeAspect="1"/>
          </p:cNvPicPr>
          <p:nvPr/>
        </p:nvPicPr>
        <p:blipFill>
          <a:blip r:embed="rId3"/>
          <a:stretch>
            <a:fillRect/>
          </a:stretch>
        </p:blipFill>
        <p:spPr>
          <a:xfrm>
            <a:off x="4771929" y="1969188"/>
            <a:ext cx="3178207" cy="4233867"/>
          </a:xfrm>
          <a:prstGeom prst="rect">
            <a:avLst/>
          </a:prstGeom>
        </p:spPr>
      </p:pic>
      <p:pic>
        <p:nvPicPr>
          <p:cNvPr id="9" name="Picture 8">
            <a:extLst>
              <a:ext uri="{FF2B5EF4-FFF2-40B4-BE49-F238E27FC236}">
                <a16:creationId xmlns:a16="http://schemas.microsoft.com/office/drawing/2014/main" id="{FDAC9DBC-DAE8-7E5D-E93D-007B92EADAAA}"/>
              </a:ext>
            </a:extLst>
          </p:cNvPr>
          <p:cNvPicPr>
            <a:picLocks noChangeAspect="1"/>
          </p:cNvPicPr>
          <p:nvPr/>
        </p:nvPicPr>
        <p:blipFill>
          <a:blip r:embed="rId4"/>
          <a:stretch>
            <a:fillRect/>
          </a:stretch>
        </p:blipFill>
        <p:spPr>
          <a:xfrm>
            <a:off x="8177290" y="1969188"/>
            <a:ext cx="3164140" cy="4233867"/>
          </a:xfrm>
          <a:prstGeom prst="rect">
            <a:avLst/>
          </a:prstGeom>
        </p:spPr>
      </p:pic>
    </p:spTree>
    <p:extLst>
      <p:ext uri="{BB962C8B-B14F-4D97-AF65-F5344CB8AC3E}">
        <p14:creationId xmlns:p14="http://schemas.microsoft.com/office/powerpoint/2010/main" val="458056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F6375-FD4F-FEFC-BDAB-275FF1FB1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2D8AF4-D4A0-23D2-9793-2677DAFB2FD4}"/>
              </a:ext>
            </a:extLst>
          </p:cNvPr>
          <p:cNvSpPr>
            <a:spLocks noGrp="1"/>
          </p:cNvSpPr>
          <p:nvPr>
            <p:ph type="title"/>
          </p:nvPr>
        </p:nvSpPr>
        <p:spPr/>
        <p:txBody>
          <a:bodyPr/>
          <a:lstStyle/>
          <a:p>
            <a:r>
              <a:rPr lang="en-US" dirty="0"/>
              <a:t>Predictions (Taken by us)</a:t>
            </a:r>
          </a:p>
        </p:txBody>
      </p:sp>
      <p:pic>
        <p:nvPicPr>
          <p:cNvPr id="4" name="Picture 3">
            <a:extLst>
              <a:ext uri="{FF2B5EF4-FFF2-40B4-BE49-F238E27FC236}">
                <a16:creationId xmlns:a16="http://schemas.microsoft.com/office/drawing/2014/main" id="{A057E336-ED81-D2C7-DE42-63DFA29DBF68}"/>
              </a:ext>
            </a:extLst>
          </p:cNvPr>
          <p:cNvPicPr>
            <a:picLocks noChangeAspect="1"/>
          </p:cNvPicPr>
          <p:nvPr/>
        </p:nvPicPr>
        <p:blipFill>
          <a:blip r:embed="rId2"/>
          <a:stretch>
            <a:fillRect/>
          </a:stretch>
        </p:blipFill>
        <p:spPr>
          <a:xfrm>
            <a:off x="1371600" y="1586205"/>
            <a:ext cx="3725037" cy="5001207"/>
          </a:xfrm>
          <a:prstGeom prst="rect">
            <a:avLst/>
          </a:prstGeom>
        </p:spPr>
      </p:pic>
      <p:pic>
        <p:nvPicPr>
          <p:cNvPr id="7" name="Picture 6" descr="A bottle of water on a tile floor&#10;&#10;AI-generated content may be incorrect.">
            <a:extLst>
              <a:ext uri="{FF2B5EF4-FFF2-40B4-BE49-F238E27FC236}">
                <a16:creationId xmlns:a16="http://schemas.microsoft.com/office/drawing/2014/main" id="{807F0D13-6C3B-9242-5205-359E28E855A7}"/>
              </a:ext>
            </a:extLst>
          </p:cNvPr>
          <p:cNvPicPr>
            <a:picLocks noChangeAspect="1"/>
          </p:cNvPicPr>
          <p:nvPr/>
        </p:nvPicPr>
        <p:blipFill>
          <a:blip r:embed="rId3"/>
          <a:stretch>
            <a:fillRect/>
          </a:stretch>
        </p:blipFill>
        <p:spPr>
          <a:xfrm>
            <a:off x="5536843" y="1586205"/>
            <a:ext cx="5200856" cy="5001207"/>
          </a:xfrm>
          <a:prstGeom prst="rect">
            <a:avLst/>
          </a:prstGeom>
        </p:spPr>
      </p:pic>
    </p:spTree>
    <p:extLst>
      <p:ext uri="{BB962C8B-B14F-4D97-AF65-F5344CB8AC3E}">
        <p14:creationId xmlns:p14="http://schemas.microsoft.com/office/powerpoint/2010/main" val="3327366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7A14A-7604-4E32-402A-B1E314E1E327}"/>
              </a:ext>
            </a:extLst>
          </p:cNvPr>
          <p:cNvSpPr>
            <a:spLocks noGrp="1"/>
          </p:cNvSpPr>
          <p:nvPr>
            <p:ph type="title"/>
          </p:nvPr>
        </p:nvSpPr>
        <p:spPr/>
        <p:txBody>
          <a:bodyPr/>
          <a:lstStyle/>
          <a:p>
            <a:r>
              <a:rPr lang="en-SA" dirty="0"/>
              <a:t>Conclusion</a:t>
            </a:r>
          </a:p>
        </p:txBody>
      </p:sp>
      <p:sp>
        <p:nvSpPr>
          <p:cNvPr id="3" name="Content Placeholder 2">
            <a:extLst>
              <a:ext uri="{FF2B5EF4-FFF2-40B4-BE49-F238E27FC236}">
                <a16:creationId xmlns:a16="http://schemas.microsoft.com/office/drawing/2014/main" id="{D1888A94-9882-12EF-D2FE-472E1843A92C}"/>
              </a:ext>
            </a:extLst>
          </p:cNvPr>
          <p:cNvSpPr>
            <a:spLocks noGrp="1"/>
          </p:cNvSpPr>
          <p:nvPr>
            <p:ph idx="1"/>
          </p:nvPr>
        </p:nvSpPr>
        <p:spPr/>
        <p:txBody>
          <a:bodyPr/>
          <a:lstStyle/>
          <a:p>
            <a:r>
              <a:rPr lang="en-SA" dirty="0"/>
              <a:t>Detecting trash in the outdoor environements is challenging</a:t>
            </a:r>
          </a:p>
          <a:p>
            <a:pPr lvl="1"/>
            <a:r>
              <a:rPr lang="en-SA" dirty="0"/>
              <a:t>Huge variation of trash in the wild</a:t>
            </a:r>
          </a:p>
          <a:p>
            <a:r>
              <a:rPr lang="en-SA" dirty="0"/>
              <a:t>Bigger dataset is needed for accurate classification</a:t>
            </a:r>
          </a:p>
          <a:p>
            <a:r>
              <a:rPr lang="en-SA" dirty="0"/>
              <a:t>A higher accuracy was seen in categories with good number of instances</a:t>
            </a:r>
          </a:p>
          <a:p>
            <a:r>
              <a:rPr lang="en-SA" dirty="0"/>
              <a:t>TACO dataset needs to be expanded</a:t>
            </a:r>
          </a:p>
          <a:p>
            <a:endParaRPr lang="en-SA" dirty="0"/>
          </a:p>
          <a:p>
            <a:endParaRPr lang="en-SA" dirty="0"/>
          </a:p>
        </p:txBody>
      </p:sp>
    </p:spTree>
    <p:extLst>
      <p:ext uri="{BB962C8B-B14F-4D97-AF65-F5344CB8AC3E}">
        <p14:creationId xmlns:p14="http://schemas.microsoft.com/office/powerpoint/2010/main" val="2640312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D9D6BF1-DFF2-4526-9D13-BF339D8C41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0" name="Freeform 6">
              <a:extLst>
                <a:ext uri="{FF2B5EF4-FFF2-40B4-BE49-F238E27FC236}">
                  <a16:creationId xmlns:a16="http://schemas.microsoft.com/office/drawing/2014/main" id="{A54D4DB6-FB18-4CAE-8905-E0053C925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1" name="Freeform 6">
              <a:extLst>
                <a:ext uri="{FF2B5EF4-FFF2-40B4-BE49-F238E27FC236}">
                  <a16:creationId xmlns:a16="http://schemas.microsoft.com/office/drawing/2014/main" id="{1DBD6488-9429-4FFA-8AE8-C4022C39B0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pic>
        <p:nvPicPr>
          <p:cNvPr id="5" name="Picture 4" descr="Yellow question mark">
            <a:extLst>
              <a:ext uri="{FF2B5EF4-FFF2-40B4-BE49-F238E27FC236}">
                <a16:creationId xmlns:a16="http://schemas.microsoft.com/office/drawing/2014/main" id="{BE29E38F-2C66-070B-1EAA-E67024D46B8D}"/>
              </a:ext>
            </a:extLst>
          </p:cNvPr>
          <p:cNvPicPr>
            <a:picLocks noChangeAspect="1"/>
          </p:cNvPicPr>
          <p:nvPr/>
        </p:nvPicPr>
        <p:blipFill>
          <a:blip r:embed="rId2">
            <a:grayscl/>
          </a:blip>
          <a:srcRect b="6232"/>
          <a:stretch>
            <a:fillRect/>
          </a:stretch>
        </p:blipFill>
        <p:spPr>
          <a:xfrm>
            <a:off x="20" y="10"/>
            <a:ext cx="12191980" cy="6859300"/>
          </a:xfrm>
          <a:prstGeom prst="rect">
            <a:avLst/>
          </a:prstGeom>
        </p:spPr>
      </p:pic>
      <p:sp>
        <p:nvSpPr>
          <p:cNvPr id="13" name="Rectangle 12">
            <a:extLst>
              <a:ext uri="{FF2B5EF4-FFF2-40B4-BE49-F238E27FC236}">
                <a16:creationId xmlns:a16="http://schemas.microsoft.com/office/drawing/2014/main" id="{334BA972-C640-4E2E-B1AC-162A1ABA4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8" y="0"/>
            <a:ext cx="12192000" cy="6858000"/>
          </a:xfrm>
          <a:prstGeom prst="rect">
            <a:avLst/>
          </a:prstGeom>
          <a:gradFill flip="none" rotWithShape="1">
            <a:gsLst>
              <a:gs pos="30000">
                <a:schemeClr val="bg2">
                  <a:alpha val="75000"/>
                </a:schemeClr>
              </a:gs>
              <a:gs pos="100000">
                <a:schemeClr val="bg2"/>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6">
            <a:extLst>
              <a:ext uri="{FF2B5EF4-FFF2-40B4-BE49-F238E27FC236}">
                <a16:creationId xmlns:a16="http://schemas.microsoft.com/office/drawing/2014/main" id="{AB4EBAB6-4362-4DD4-B97E-6707AFA57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sp>
        <p:nvSpPr>
          <p:cNvPr id="17" name="Freeform 6">
            <a:extLst>
              <a:ext uri="{FF2B5EF4-FFF2-40B4-BE49-F238E27FC236}">
                <a16:creationId xmlns:a16="http://schemas.microsoft.com/office/drawing/2014/main" id="{2FA5E0A6-4D2A-405F-AA56-A8E597834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2E8E58F2-DC17-B3B1-02FE-8F63F793C0CC}"/>
              </a:ext>
            </a:extLst>
          </p:cNvPr>
          <p:cNvSpPr>
            <a:spLocks noGrp="1"/>
          </p:cNvSpPr>
          <p:nvPr>
            <p:ph type="title"/>
          </p:nvPr>
        </p:nvSpPr>
        <p:spPr>
          <a:xfrm>
            <a:off x="1915128" y="1788454"/>
            <a:ext cx="8361229" cy="2098226"/>
          </a:xfrm>
        </p:spPr>
        <p:txBody>
          <a:bodyPr vert="horz" lIns="91440" tIns="45720" rIns="91440" bIns="45720" rtlCol="0" anchor="b">
            <a:normAutofit/>
          </a:bodyPr>
          <a:lstStyle/>
          <a:p>
            <a:pPr algn="ctr"/>
            <a:r>
              <a:rPr lang="en-US" sz="7200" cap="all"/>
              <a:t>questions</a:t>
            </a:r>
          </a:p>
        </p:txBody>
      </p:sp>
    </p:spTree>
    <p:extLst>
      <p:ext uri="{BB962C8B-B14F-4D97-AF65-F5344CB8AC3E}">
        <p14:creationId xmlns:p14="http://schemas.microsoft.com/office/powerpoint/2010/main" val="3654310874"/>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{EF709E57-0543-C04F-BD0F-6DDA3B07A48B}tf10001072</Template>
  <TotalTime>4</TotalTime>
  <Words>627</Words>
  <Application>Microsoft Macintosh PowerPoint</Application>
  <PresentationFormat>Widescreen</PresentationFormat>
  <Paragraphs>96</Paragraphs>
  <Slides>21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Calibri</vt:lpstr>
      <vt:lpstr>Franklin Gothic Book</vt:lpstr>
      <vt:lpstr>Gelion Light</vt:lpstr>
      <vt:lpstr>Crop</vt:lpstr>
      <vt:lpstr>Promoting Clean Environment with Smart Waste Identification</vt:lpstr>
      <vt:lpstr>Outline</vt:lpstr>
      <vt:lpstr>Introduction</vt:lpstr>
      <vt:lpstr>Deep Learning </vt:lpstr>
      <vt:lpstr>Original Model</vt:lpstr>
      <vt:lpstr>Dataset</vt:lpstr>
      <vt:lpstr>TACO: Trash Annotation in Context for Litter Detection Paper </vt:lpstr>
      <vt:lpstr>TACO: Trash Annotation in Context for Litter Detection Paper </vt:lpstr>
      <vt:lpstr>Results</vt:lpstr>
      <vt:lpstr>Predictions on TACO-10</vt:lpstr>
      <vt:lpstr>Predictions on TACO-10</vt:lpstr>
      <vt:lpstr>Predictions on TACO-10</vt:lpstr>
      <vt:lpstr>Challenges and Area of Improvements</vt:lpstr>
      <vt:lpstr>Introduced Enhancements</vt:lpstr>
      <vt:lpstr>Introduced Enhancements</vt:lpstr>
      <vt:lpstr>Results</vt:lpstr>
      <vt:lpstr>Predictions (On TACO Dataset)</vt:lpstr>
      <vt:lpstr>Predictions (On TACO Dataset)</vt:lpstr>
      <vt:lpstr>Predictions (Taken by us)</vt:lpstr>
      <vt:lpstr>Conclusion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Promoting Clean Environment with Smart Waste Identification</dc:title>
  <dc:creator>Microsoft Office User</dc:creator>
  <cp:lastModifiedBy>Microsoft Office User</cp:lastModifiedBy>
  <cp:revision>6</cp:revision>
  <dcterms:created xsi:type="dcterms:W3CDTF">2025-11-19T15:32:03Z</dcterms:created>
  <dcterms:modified xsi:type="dcterms:W3CDTF">2025-11-22T16:06:25Z</dcterms:modified>
</cp:coreProperties>
</file>